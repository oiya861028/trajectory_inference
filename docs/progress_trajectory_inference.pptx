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cells</c:v>
                </c:pt>
              </c:strCache>
            </c:strRef>
          </c:tx>
          <c:spPr>
            <a:solidFill>
              <a:srgbClr val="4878A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E7.0</c:v>
                </c:pt>
                <c:pt idx="1">
                  <c:v>E8.0</c:v>
                </c:pt>
                <c:pt idx="2">
                  <c:v>E8.5</c:v>
                </c:pt>
                <c:pt idx="3">
                  <c:v>E9.0</c:v>
                </c:pt>
                <c:pt idx="4">
                  <c:v>E10.0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11195</c:v>
                </c:pt>
                <c:pt idx="1">
                  <c:v>6813</c:v>
                </c:pt>
                <c:pt idx="2">
                  <c:v>3241</c:v>
                </c:pt>
                <c:pt idx="3">
                  <c:v>14781</c:v>
                </c:pt>
                <c:pt idx="4">
                  <c:v>32136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50">
                  <a:solidFill>
                    <a:srgbClr val="1A1A1A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9A9A"/>
            </a:solidFill>
          </a:ln>
        </c:spPr>
        <c:txPr>
          <a:bodyPr/>
          <a:lstStyle/>
          <a:p>
            <a:pPr>
              <a:defRPr sz="11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4E4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E6E6E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Harmony</c:v>
                </c:pt>
              </c:strCache>
            </c:strRef>
          </c:tx>
          <c:spPr>
            <a:solidFill>
              <a:srgbClr val="4878A6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E7.0 → E7.0</c:v>
                </c:pt>
                <c:pt idx="1">
                  <c:v>E7.0 → E10.0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98.56</c:v>
                </c:pt>
                <c:pt idx="1">
                  <c:v>0.01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Harmony</c:v>
                </c:pt>
              </c:strCache>
            </c:strRef>
          </c:tx>
          <c:spPr>
            <a:solidFill>
              <a:srgbClr val="99000D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E7.0 → E7.0</c:v>
                </c:pt>
                <c:pt idx="1">
                  <c:v>E7.0 → E10.0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88.4</c:v>
                </c:pt>
                <c:pt idx="1">
                  <c:v>6.22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050">
                  <a:solidFill>
                    <a:srgbClr val="1A1A1A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9A9A"/>
            </a:solidFill>
          </a:ln>
        </c:spPr>
        <c:txPr>
          <a:bodyPr/>
          <a:lstStyle/>
          <a:p>
            <a:pPr>
              <a:defRPr sz="11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4E4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E6E6E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devbrain E7.0 vs E10.0</c:v>
                </c:pt>
              </c:strCache>
            </c:strRef>
          </c:tx>
          <c:spPr>
            <a:solidFill>
              <a:srgbClr val="4878A6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 genes</c:v>
                </c:pt>
                <c:pt idx="1">
                  <c:v>expressed
only</c:v>
                </c:pt>
                <c:pt idx="2">
                  <c:v>stage-variable
genes</c:v>
                </c:pt>
                <c:pt idx="3">
                  <c:v>Spearman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0.963</c:v>
                </c:pt>
                <c:pt idx="1">
                  <c:v>0.935</c:v>
                </c:pt>
                <c:pt idx="2">
                  <c:v>0.913</c:v>
                </c:pt>
                <c:pt idx="3">
                  <c:v>0.87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devbrain vs Brooks, both E8.5</c:v>
                </c:pt>
              </c:strCache>
            </c:strRef>
          </c:tx>
          <c:spPr>
            <a:solidFill>
              <a:srgbClr val="99000D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 genes</c:v>
                </c:pt>
                <c:pt idx="1">
                  <c:v>expressed
only</c:v>
                </c:pt>
                <c:pt idx="2">
                  <c:v>stage-variable
genes</c:v>
                </c:pt>
                <c:pt idx="3">
                  <c:v>Spearman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0.936</c:v>
                </c:pt>
                <c:pt idx="1">
                  <c:v>0.855</c:v>
                </c:pt>
                <c:pt idx="2">
                  <c:v>0.907</c:v>
                </c:pt>
                <c:pt idx="3">
                  <c:v>0.674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>
                  <a:solidFill>
                    <a:srgbClr val="1A1A1A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9A9A"/>
            </a:solidFill>
          </a:ln>
        </c:spPr>
        <c:txPr>
          <a:bodyPr/>
          <a:lstStyle/>
          <a:p>
            <a:pPr>
              <a:defRPr sz="10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4E4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6E6E6E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50"/>
          </a:pPr>
        </a:p>
      </c:txPr>
    </c:legend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reads unspliced</c:v>
                </c:pt>
              </c:strCache>
            </c:strRef>
          </c:tx>
          <c:spPr>
            <a:solidFill>
              <a:srgbClr val="99000D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this run</c:v>
                </c:pt>
                <c:pt idx="1">
                  <c:v>published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19.1</c:v>
                </c:pt>
                <c:pt idx="1">
                  <c:v>19.3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>
                  <a:solidFill>
                    <a:srgbClr val="1A1A1A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9A9A"/>
            </a:solidFill>
          </a:ln>
        </c:spPr>
        <c:txPr>
          <a:bodyPr/>
          <a:lstStyle/>
          <a:p>
            <a:pPr>
              <a:defRPr sz="11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4E4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E6E6E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forebrain panel</c:v>
                </c:pt>
              </c:strCache>
            </c:strRef>
          </c:tx>
          <c:spPr>
            <a:solidFill>
              <a:srgbClr val="99000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Forebrain</c:v>
                </c:pt>
                <c:pt idx="1">
                  <c:v>Midbrain</c:v>
                </c:pt>
                <c:pt idx="2">
                  <c:v>Hindbrain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0.076</c:v>
                </c:pt>
                <c:pt idx="1">
                  <c:v>0.018</c:v>
                </c:pt>
                <c:pt idx="2">
                  <c:v>-0.089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hindbrain panel</c:v>
                </c:pt>
              </c:strCache>
            </c:strRef>
          </c:tx>
          <c:spPr>
            <a:solidFill>
              <a:srgbClr val="4878A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Forebrain</c:v>
                </c:pt>
                <c:pt idx="1">
                  <c:v>Midbrain</c:v>
                </c:pt>
                <c:pt idx="2">
                  <c:v>Hindbrain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-0.051</c:v>
                </c:pt>
                <c:pt idx="1">
                  <c:v>-0.054</c:v>
                </c:pt>
                <c:pt idx="2">
                  <c:v>0.064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>
                  <a:solidFill>
                    <a:srgbClr val="1A1A1A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9A9A"/>
            </a:solidFill>
          </a:ln>
        </c:spPr>
        <c:txPr>
          <a:bodyPr/>
          <a:lstStyle/>
          <a:p>
            <a:pPr>
              <a:defRPr sz="10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4E4E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6E6E6E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50"/>
          </a:pPr>
        </a:p>
      </c:txPr>
    </c:legend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 on ordering E7-E10 brain cells along developmental time to read out hedgehog pathway dynamics. Three things to cover: the pipeline works, the Brooks integration fixed the graph, and CellRank surfaced a problem that needs a decision before we spend more compute. Jobs: 61852174 devbrain 2h42m, 61852175 joint 1h03m, 61841763 CellTypist 4h26m.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stage imbalance: E10.0 has 32k cells, E8.5 only 3.2k. This matters later - metastable states follow where the cells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methodological point of the first half. The diagnostic that caught it was checking the chip-by-stage crosstab before trusting the mixing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matters. Moscot was added specifically to carry early cells forward by optimal transport. It does the opposite: it removes them from the metastable structure entirely. In the joint object it is worse - nothing before E8.0, so all of E7.0, E7.5 and E7.75 are unrepresented, 26% of the cells, Brooks bridge notwithstanding.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Trajectory inference in the
E7.0–E10.0 mouse embryonic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 i="0">
                <a:solidFill>
                  <a:srgbClr val="FCC9B4"/>
                </a:solidFill>
                <a:latin typeface="Calibri"/>
              </a:rPr>
              <a:t>Pipeline status, the E7.0 connectivity problem, and one result that changes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32F27"/>
                </a:solidFill>
                <a:latin typeface="Cambria"/>
              </a:rPr>
              <a:t>68,166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937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9A9A9A"/>
                </a:solidFill>
                <a:latin typeface="Calibri"/>
              </a:rPr>
              <a:t>cells, 19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46634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32F27"/>
                </a:solidFill>
                <a:latin typeface="Cambria"/>
              </a:rPr>
              <a:t>107,629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51937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9A9A9A"/>
                </a:solidFill>
                <a:latin typeface="Calibri"/>
              </a:rPr>
              <a:t>cells after joining Brooks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6634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32F27"/>
                </a:solidFill>
                <a:latin typeface="Cambr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1937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9A9A9A"/>
                </a:solidFill>
                <a:latin typeface="Calibri"/>
              </a:rPr>
              <a:t>kernel weightings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E6E6E"/>
                </a:solidFill>
                <a:latin typeface="Calibri"/>
              </a:rPr>
              <a:t>Yubin  ·  Moskowitz Lab  ·  30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Where this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Pipeline is complete end to end; one finding blocks the biology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929384"/>
            <a:ext cx="22037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4878A6"/>
                </a:solidFill>
                <a:latin typeface="Cambria"/>
              </a:rPr>
              <a:t>68,166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606040"/>
            <a:ext cx="2203704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cells pass QC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836290"/>
            <a:ext cx="2203704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19 libraries, E7.0–E10.0
11 cells, 2,448 genes cut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8308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1929384"/>
            <a:ext cx="22037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4878A6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168" y="2606040"/>
            <a:ext cx="2203704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connected 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836290"/>
            <a:ext cx="2203704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100% of 107,629 cells
across all 9 stages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929384"/>
            <a:ext cx="22037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4878A6"/>
                </a:solidFill>
                <a:latin typeface="Cambria"/>
              </a:rPr>
              <a:t>7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606040"/>
            <a:ext cx="2203704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CellRank kernels ran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836290"/>
            <a:ext cx="2203704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Velocity-only failed at
the fate-probability solve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783080"/>
            <a:ext cx="2606040" cy="1874519"/>
          </a:xfrm>
          <a:prstGeom prst="roundRect">
            <a:avLst>
              <a:gd name="adj" fmla="val 6000"/>
            </a:avLst>
          </a:prstGeom>
          <a:solidFill>
            <a:srgbClr val="F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8" y="1929384"/>
            <a:ext cx="220370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99000D"/>
                </a:solidFill>
                <a:latin typeface="Cambria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2606040"/>
            <a:ext cx="2203704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macrostates at E7.0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8008" y="2836290"/>
            <a:ext cx="2203704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Under every kernel using
moscot optimal transport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99592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931920"/>
            <a:ext cx="10643616" cy="4493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Works. 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QC, gene-symbol repair, velocity regeneration, the Brooks bridge, CellTypist annotation, and 7 of 8 CellRank runs.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584954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4520946"/>
            <a:ext cx="10643616" cy="4493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Blocks. 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No metastable state is placed at E7.0 by any optimal-transport kernel, so the root cell cannot be identified — which was the whole point of adding the bridge.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173980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5109972"/>
            <a:ext cx="10643616" cy="4493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Confounded. </a:t>
            </a:r>
            <a:r>
              <a:rPr sz="1450" b="0" i="0">
                <a:solidFill>
                  <a:srgbClr val="1A1A1A"/>
                </a:solidFill>
                <a:latin typeface="Calibri"/>
              </a:rPr>
              <a:t>The single run that does put a root at E7.0 picks cells that are also 100% from the one undissected sample, so stage and dissection cannot be told apart.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24144"/>
            <a:ext cx="10911535" cy="640588"/>
          </a:xfrm>
          <a:prstGeom prst="roundRect">
            <a:avLst>
              <a:gd name="adj" fmla="val 6000"/>
            </a:avLst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43016"/>
            <a:ext cx="10454335" cy="45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Decision needed: test a less absorbing transport kernel, or restrict the analysis to one dissected region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The data and 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Mouse embryonic brain, 10x v1 chemistry, five timepoints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4708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5248656" cy="627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Goal.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Order cells along developmental time, then read hedgehog pathway dynamics (Shh, Ptch1, Smo, Gli1–3, Hhip) along that ordering.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01595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537587"/>
            <a:ext cx="5248656" cy="627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Source.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PRJNA637987 — 19 libraries re-counted from the original CellRanger BAMs, because the published loom is no longer downloadable.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356101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292093"/>
            <a:ext cx="5248656" cy="627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Dissection widens with stage.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Whole embryo at E7.0, head at E8.0–E8.5, then forebrain / midbrain / hindbrain separately at E9.0–E10.0.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F3C7E"/>
                </a:solidFill>
                <a:latin typeface="Calibri"/>
              </a:rPr>
              <a:t>Why this is hard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81728"/>
            <a:ext cx="50292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E7.0 is three days and one gastrulation event away from E10.0, and was dissected differently. Any method that assumes a continuum has to bridge a real biological and technical gap.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0" y="1874519"/>
          <a:ext cx="51206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614476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Cells per stage — E10.0 is 47% of the object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Quality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Both datasets, same pipeline, very different chemistry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6400800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/>
                <a:gridCol w="1737360"/>
                <a:gridCol w="17373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devbrain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Brooks 2025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68,166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39,463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Median UMI / cell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11,692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42,461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Median genes / cell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3,188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5,923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Genes per 10k UMI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2,742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1,393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Median % mitochondrial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Median % ribosomal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25.5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25.9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</a:tbl>
          </a:graphicData>
        </a:graphic>
      </p:graphicFrame>
      <p:sp>
        <p:nvSpPr>
          <p:cNvPr id="5" name="Oval 4"/>
          <p:cNvSpPr/>
          <p:nvPr/>
        </p:nvSpPr>
        <p:spPr>
          <a:xfrm>
            <a:off x="7315200" y="1892807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52944" y="1828800"/>
            <a:ext cx="3968496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Filtering was light.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68,177 → 68,166 cells (11 below 500 genes); 24,191 → 21,743 genes (2,448 in fewer than 3 cells).</a:t>
            </a:r>
          </a:p>
        </p:txBody>
      </p:sp>
      <p:sp>
        <p:nvSpPr>
          <p:cNvPr id="7" name="Oval 6"/>
          <p:cNvSpPr/>
          <p:nvPr/>
        </p:nvSpPr>
        <p:spPr>
          <a:xfrm>
            <a:off x="7315200" y="2600832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2944" y="2536825"/>
            <a:ext cx="3968496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5,334 var entries had no gene symbol.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Caused by merge="first" taking the column from one sample only. Rebuilt from all 19 files; counts were never affected.</a:t>
            </a:r>
          </a:p>
        </p:txBody>
      </p:sp>
      <p:sp>
        <p:nvSpPr>
          <p:cNvPr id="9" name="Oval 8"/>
          <p:cNvSpPr/>
          <p:nvPr/>
        </p:nvSpPr>
        <p:spPr>
          <a:xfrm>
            <a:off x="7315200" y="3502532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2944" y="3438525"/>
            <a:ext cx="3968496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Brooks reports 0% mitochondrial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at every stage — it arrives pre-filtered, so its QC is not directly comparable.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24144"/>
            <a:ext cx="10911535" cy="439166"/>
          </a:xfrm>
          <a:prstGeom prst="roundRect">
            <a:avLst>
              <a:gd name="adj" fmla="val 6000"/>
            </a:avLst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43016"/>
            <a:ext cx="10454335" cy="256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Brooks is 3.6× deeper per cell. That asymmetry, not biology, dominates any raw cross-dataset comparison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The blocker: E7.0 is an island in the kNN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Mean share of each cell's 30 nearest neighbours, by stage (devbrain alone)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74519"/>
          <a:ext cx="6675114" cy="22494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799"/>
                <a:gridCol w="969263"/>
                <a:gridCol w="969263"/>
                <a:gridCol w="969263"/>
                <a:gridCol w="969263"/>
                <a:gridCol w="96926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own stage →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E7.0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E8.0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E8.5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E9.0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E10.0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E7.0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FFFFFF"/>
                          </a:solidFill>
                          <a:latin typeface="Calibri"/>
                        </a:rPr>
                        <a:t>98.6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1.4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E8.0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88.9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5.4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2.2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E8.5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56.0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22.3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E9.0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4.5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39.9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E10.0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19.9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79.0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Oval 4"/>
          <p:cNvSpPr/>
          <p:nvPr/>
        </p:nvSpPr>
        <p:spPr>
          <a:xfrm>
            <a:off x="7589520" y="198424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27264" y="1920240"/>
            <a:ext cx="3739896" cy="4028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98.6% of an E7.0 cell's neighbours are also E7.0.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2539492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27264" y="2475484"/>
            <a:ext cx="3739896" cy="4028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0.0% reach E9.0 or E10.0 — not rounding, zero edges.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3094735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27264" y="3030728"/>
            <a:ext cx="3739896" cy="4028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95.4% of E7.0 cells sit in neighbourhoods that are &gt;90% their own 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24144"/>
            <a:ext cx="10911535" cy="640588"/>
          </a:xfrm>
          <a:prstGeom prst="roundRect">
            <a:avLst>
              <a:gd name="adj" fmla="val 6000"/>
            </a:avLst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43016"/>
            <a:ext cx="10454335" cy="45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No path exists from E7.0 to later stages, so any trajectory rooted at E7.0 is unsupported by the graph it runs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3892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6E6E6E"/>
                </a:solidFill>
                <a:latin typeface="Calibri"/>
              </a:rPr>
              <a:t>Rows sum to 100%. The E8.5 and E9.0 rows mix freely in both directions — what a continuous series should look like. E7.0 does not.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First attempt: Harmony on chip — tested, then rejected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The only within-dataset batch key not nested inside 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874519"/>
          <a:ext cx="53949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983480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Neighbour share from E7.0 cells</a:t>
            </a:r>
          </a:p>
        </p:txBody>
      </p:sp>
      <p:sp>
        <p:nvSpPr>
          <p:cNvPr id="6" name="Oval 5"/>
          <p:cNvSpPr/>
          <p:nvPr/>
        </p:nvSpPr>
        <p:spPr>
          <a:xfrm>
            <a:off x="6400800" y="198424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38544" y="1920240"/>
            <a:ext cx="4882896" cy="6042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It looked like it worked.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E7.0→E10.0 neighbour share rose from 0.01% to 6.22%, and the UMAP stopped showing a detached island.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2728213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38544" y="2664206"/>
            <a:ext cx="4882896" cy="805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But no chip contains both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an E7.0 library and a late library. Harmony removes variation shared between batches; with no overlap there is nothing to remove.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3673602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38544" y="3609594"/>
            <a:ext cx="4882896" cy="6042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So the mixing is manufactured,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not corrected — Harmony pulled the clouds together because the key told it they were the same batch.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724144"/>
            <a:ext cx="10911535" cy="439166"/>
          </a:xfrm>
          <a:prstGeom prst="roundRect">
            <a:avLst>
              <a:gd name="adj" fmla="val 6000"/>
            </a:avLst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43016"/>
            <a:ext cx="10454335" cy="256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Rejected. A correction that cannot be distinguished from fabrication is worse than no correction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The bridge: Brooks 2025 fills the window devbrain skips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GSE273804, FVB wild-type timeseries, E7.5–E8.75, 39,463 cells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881355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67005"/>
                <a:gridCol w="1057150"/>
                <a:gridCol w="1057150"/>
                <a:gridCol w="1057150"/>
                <a:gridCol w="1057150"/>
                <a:gridCol w="1057150"/>
                <a:gridCol w="1057150"/>
                <a:gridCol w="1057150"/>
                <a:gridCol w="1057150"/>
                <a:gridCol w="105715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E7.0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E7.5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E7.75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E8.0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E8.25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E8.5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E8.75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E9.0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E10.0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devbrain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  <a:latin typeface="Calibri"/>
                        </a:rPr>
                        <a:t>11,195</a:t>
                      </a:r>
                    </a:p>
                  </a:txBody>
                  <a:tcPr marL="64008" marR="64008" marT="18288" marB="18288" anchor="ctr">
                    <a:solidFill>
                      <a:srgbClr val="EE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6,813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3,241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  <a:latin typeface="Calibri"/>
                        </a:rPr>
                        <a:t>14,781</a:t>
                      </a:r>
                    </a:p>
                  </a:txBody>
                  <a:tcPr marL="64008" marR="64008" marT="18288" marB="18288" anchor="ctr">
                    <a:solidFill>
                      <a:srgbClr val="EE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  <a:latin typeface="Calibri"/>
                        </a:rPr>
                        <a:t>32,136</a:t>
                      </a:r>
                    </a:p>
                  </a:txBody>
                  <a:tcPr marL="64008" marR="64008" marT="18288" marB="18288" anchor="ctr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Brooks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  <a:latin typeface="Calibri"/>
                        </a:rPr>
                        <a:t>9,533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  <a:latin typeface="Calibri"/>
                        </a:rPr>
                        <a:t>7,101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3,444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  <a:latin typeface="Calibri"/>
                        </a:rPr>
                        <a:t>3,397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10,085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1A1A"/>
                          </a:solidFill>
                          <a:latin typeface="Calibri"/>
                        </a:rPr>
                        <a:t>5,903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</a:tbl>
          </a:graphicData>
        </a:graphic>
      </p:graphicFrame>
      <p:sp>
        <p:nvSpPr>
          <p:cNvPr id="5" name="Oval 4"/>
          <p:cNvSpPr/>
          <p:nvPr/>
        </p:nvSpPr>
        <p:spPr>
          <a:xfrm>
            <a:off x="640080" y="3310127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3246120"/>
            <a:ext cx="10643616" cy="4183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The gap was E7.0 → E8.0.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Brooks supplies E7.5 and E7.75 inside it, so the series becomes a chain of small steps rather than one three-day jump.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868165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804157"/>
            <a:ext cx="10643616" cy="4183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Harmony on dataset, not on sample.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Every Brooks replicate is a single stage, so correcting on replicate would delete the developmental signal along with the batch effect.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26204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362196"/>
            <a:ext cx="10643616" cy="4183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Accepted cost: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the two datasets are cross-platform, so some of what Harmony removes is real biology. Quantified on the next slide.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24144"/>
            <a:ext cx="10911535" cy="640588"/>
          </a:xfrm>
          <a:prstGeom prst="roundRect">
            <a:avLst>
              <a:gd name="adj" fmla="val 6000"/>
            </a:avLst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43016"/>
            <a:ext cx="10454335" cy="45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bridge is a chain, not a shortcut — it adds intermediate stages rather than forcing distant ones together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Integration 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One connected component holding 100% of 107,629 cells, all nine stages</a:t>
            </a:r>
          </a:p>
        </p:txBody>
      </p:sp>
      <p:pic>
        <p:nvPicPr>
          <p:cNvPr id="4" name="Picture 3" descr="fig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10512"/>
            <a:ext cx="2771394" cy="4242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devbrain (blue) vs Brooks (orange)</a:t>
            </a:r>
          </a:p>
        </p:txBody>
      </p:sp>
      <p:sp>
        <p:nvSpPr>
          <p:cNvPr id="6" name="Oval 5"/>
          <p:cNvSpPr/>
          <p:nvPr/>
        </p:nvSpPr>
        <p:spPr>
          <a:xfrm>
            <a:off x="4206240" y="1892807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3983" y="1828800"/>
            <a:ext cx="7077456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Before: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the two datasets occupy separate territory — 99.6% of a Brooks cell's neighbours are Brooks, 99.8% of a devbrain cell's are devbrain.</a:t>
            </a:r>
          </a:p>
        </p:txBody>
      </p:sp>
      <p:sp>
        <p:nvSpPr>
          <p:cNvPr id="8" name="Oval 7"/>
          <p:cNvSpPr/>
          <p:nvPr/>
        </p:nvSpPr>
        <p:spPr>
          <a:xfrm>
            <a:off x="4206240" y="239445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3" y="2330450"/>
            <a:ext cx="7077456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After: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80.3% / 86.3% self — they interdigitate, and stage forms a clean E7.0 → E10.0 gradient across the manifold.</a:t>
            </a:r>
          </a:p>
        </p:txBody>
      </p:sp>
      <p:sp>
        <p:nvSpPr>
          <p:cNvPr id="10" name="Oval 9"/>
          <p:cNvSpPr/>
          <p:nvPr/>
        </p:nvSpPr>
        <p:spPr>
          <a:xfrm>
            <a:off x="4206240" y="289610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2832100"/>
            <a:ext cx="7077456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E7.0 reconnected: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neighbour share to E7.5 went 0.05% → 8.75% and to E7.75 0.03% → 3.33%, through added intermediate cells rather than forcing.</a:t>
            </a:r>
          </a:p>
        </p:txBody>
      </p:sp>
      <p:sp>
        <p:nvSpPr>
          <p:cNvPr id="12" name="Oval 11"/>
          <p:cNvSpPr/>
          <p:nvPr/>
        </p:nvSpPr>
        <p:spPr>
          <a:xfrm>
            <a:off x="4206240" y="339775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3983" y="3333750"/>
            <a:ext cx="7077456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Not over-mixed: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cross-dataset mixing peaks exactly at the shared stages (E8.0 31.5%, E8.5 29.9%) and is lowest where only one dataset has cells (E10.0 8.4%) — the correct behaviour.</a:t>
            </a:r>
          </a:p>
        </p:txBody>
      </p:sp>
      <p:sp>
        <p:nvSpPr>
          <p:cNvPr id="14" name="Oval 13"/>
          <p:cNvSpPr/>
          <p:nvPr/>
        </p:nvSpPr>
        <p:spPr>
          <a:xfrm>
            <a:off x="4206240" y="4093083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4029075"/>
            <a:ext cx="7077456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Still honest about distance: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E7.0 → E9.0/E10.0 stayed at 0.01%. The bridge did not invent a shortcut across three days.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How different are the two datasets?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Pseudobulk correlation, and why the headline number misleads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874519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40680"/>
            <a:ext cx="5760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Pearson r unless noted; higher = more similar</a:t>
            </a:r>
          </a:p>
        </p:txBody>
      </p:sp>
      <p:sp>
        <p:nvSpPr>
          <p:cNvPr id="6" name="Oval 5"/>
          <p:cNvSpPr/>
          <p:nvPr/>
        </p:nvSpPr>
        <p:spPr>
          <a:xfrm>
            <a:off x="6766560" y="1938527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4304" y="1874519"/>
            <a:ext cx="4517136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The ceiling is 0.9999.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Two random halves of the same stage, differing only by sampling noise, correlate that highly — so 0.963 is not close to identical, it is far from the ceiling.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2840227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4304" y="2776220"/>
            <a:ext cx="4517136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88.7% of the 15,200 shared genes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are near-zero in both, and only 34 genes (0.2%) move more than one log1p unit from E7.0 to E10.0.</a:t>
            </a:r>
          </a:p>
        </p:txBody>
      </p:sp>
      <p:sp>
        <p:nvSpPr>
          <p:cNvPr id="10" name="Oval 9"/>
          <p:cNvSpPr/>
          <p:nvPr/>
        </p:nvSpPr>
        <p:spPr>
          <a:xfrm>
            <a:off x="6766560" y="3548253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4304" y="3484245"/>
            <a:ext cx="4517136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Platform beats biology here.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Same-stage across datasets (Spearman 0.674) is less similar than three days of development within one dataset (0.870).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724144"/>
            <a:ext cx="10911535" cy="439166"/>
          </a:xfrm>
          <a:prstGeom prst="roundRect">
            <a:avLst>
              <a:gd name="adj" fmla="val 6000"/>
            </a:avLst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43016"/>
            <a:ext cx="10454335" cy="256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Pearson over all genes is dominated by the shared mean-expression axis. Use Spearman on expressed genes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Dissection is confounded with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Mean Spearman between library pairs, split by whether stage and region match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6949440" cy="13533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2148840"/>
                <a:gridCol w="21488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Library pair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Same region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Different region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Same stage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0.9717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0.9579</a:t>
                      </a:r>
                    </a:p>
                  </a:txBody>
                  <a:tcPr marL="64008" marR="64008" marT="18288" marB="18288" anchor="ctr">
                    <a:solidFill>
                      <a:srgbClr val="EEF1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Different stage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0.9576</a:t>
                      </a:r>
                    </a:p>
                  </a:txBody>
                  <a:tcPr marL="64008" marR="64008" marT="18288" marB="18288" anchor="ctr">
                    <a:solidFill>
                      <a:srgbClr val="EE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0.8869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6576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Matching region across different stages (0.9576) is indistinguishable from matching stage across different regions (0.9579).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4562856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498848"/>
            <a:ext cx="6711696" cy="193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One dissected region is worth about one stage step.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883531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819523"/>
            <a:ext cx="6711696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The dissection scheme changes with stage by design — whole embryo, then head, then separate regions — so the two cannot be separated in this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920240"/>
            <a:ext cx="3657600" cy="3931920"/>
          </a:xfrm>
          <a:prstGeom prst="roundRect">
            <a:avLst>
              <a:gd name="adj" fmla="val 6000"/>
            </a:avLst>
          </a:prstGeom>
          <a:solidFill>
            <a:srgbClr val="F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103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9000D"/>
                </a:solidFill>
                <a:latin typeface="Calibri"/>
              </a:rPr>
              <a:t>Consequence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004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Any statement of the form “this state is early” is also a statement “this state came from the whole-embryo dissection.”
The only clean fix is to analyse within a single region — which means E9.0–E10.0 only, where forebrain, midbrain and hindbrain were collected separately.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Spliced / unspliced counts had to be regenerated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The published loom is gone; velocyto rerun on all 19 libraries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92807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6437376" cy="836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The authors' loom is unreachable.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The hosting bucket returns 404, and the surviving mirrors are inadequate — CELLxGENE carries only pooled or expected counts, and the filtered loom excludes Gli1, Hhip and Shh.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869184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805176"/>
            <a:ext cx="6437376" cy="627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So it was rebuilt from the BAMs,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velocyto with the Ensembl 93 annotation and an mm10 repeat mask, as one SLURM array job over the 19 libraries.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636391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572383"/>
            <a:ext cx="6437376" cy="627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Validated against the paper: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19.1% of reads unspliced here versus the authors' reported 19.3% — close enough to trust the regeneration.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40359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339590"/>
            <a:ext cx="6437376" cy="627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One subtlety: </a:t>
            </a:r>
            <a:r>
              <a:rPr sz="1350" b="0" i="0">
                <a:solidFill>
                  <a:srgbClr val="1A1A1A"/>
                </a:solidFill>
                <a:latin typeface="Calibri"/>
              </a:rPr>
              <a:t>these are CellRanger 3.0 BAMs, where intronic reads carry no GX tag, so region assignment comes from the RE:A tag instead.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589520" y="1874519"/>
          <a:ext cx="393192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589520" y="4983480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Unspliced fraction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724144"/>
            <a:ext cx="10911535" cy="640588"/>
          </a:xfrm>
          <a:prstGeom prst="roundRect">
            <a:avLst>
              <a:gd name="adj" fmla="val 6000"/>
            </a:avLst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843016"/>
            <a:ext cx="10454335" cy="45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All five hedgehog genes survive into the velocity object — they need explicit retention, or the shared-count filter drops them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CellRank: eight kernel weightings, run identically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So that differences between runs come from the kernel, not the settings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594360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Composition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RNA velocity alone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realtime_moscot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Optimal transport alone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connectivity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Graph connectivity alone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vk0.8_ck0.2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velocity + connectivity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vk0.8_rtk0.2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velocity-dominant + OT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vk0.5_rtk0.5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balanced velocity / OT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vk0.2_rtk0.8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OT-dominant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vk0.6_rtk0.2_ck0.2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three-way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</a:tbl>
          </a:graphicData>
        </a:graphic>
      </p:graphicFrame>
      <p:sp>
        <p:nvSpPr>
          <p:cNvPr id="5" name="Oval 4"/>
          <p:cNvSpPr/>
          <p:nvPr/>
        </p:nvSpPr>
        <p:spPr>
          <a:xfrm>
            <a:off x="6949440" y="1892807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87183" y="1828800"/>
            <a:ext cx="4334256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Shared settings: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12 macrostates, Leiden clusters as the cluster key, Krylov Schur decomposition, 4 terminal states.</a:t>
            </a:r>
          </a:p>
        </p:txBody>
      </p:sp>
      <p:sp>
        <p:nvSpPr>
          <p:cNvPr id="7" name="Oval 6"/>
          <p:cNvSpPr/>
          <p:nvPr/>
        </p:nvSpPr>
        <p:spPr>
          <a:xfrm>
            <a:off x="6949440" y="2600832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87183" y="2536825"/>
            <a:ext cx="4334256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moscot converged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on all consecutive stage pairs, costs 0.11–0.16.</a:t>
            </a:r>
          </a:p>
        </p:txBody>
      </p:sp>
      <p:sp>
        <p:nvSpPr>
          <p:cNvPr id="9" name="Oval 8"/>
          <p:cNvSpPr/>
          <p:nvPr/>
        </p:nvSpPr>
        <p:spPr>
          <a:xfrm>
            <a:off x="6949440" y="3115182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87183" y="3051175"/>
            <a:ext cx="4334256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7 of 8 completed.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Velocity alone failed at the fate-probability solve — 60,762 of 68,166 rows did not sum to 1, a GMRES convergence failure, fixable with a direct solver.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0" y="4016882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87183" y="3952874"/>
            <a:ext cx="4334256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Terminal states agree: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all seven runs nominate cluster 0; pairwise fate-probability correlation runs 0.44 to 0.99.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44768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1">
                <a:solidFill>
                  <a:srgbClr val="6E6E6E"/>
                </a:solidFill>
                <a:latin typeface="Calibri"/>
              </a:rPr>
              <a:t>Environment note: cellrank 2.0.7 on python 3.11 with four local site-packages patches, re-applied by scripts/env/patch_cellrank_env.py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The finding: optimal transport removes E7.0 from the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9A9A9A"/>
                </a:solidFill>
                <a:latin typeface="Calibri"/>
              </a:rPr>
              <a:t>Number of macrostates containing any E7.0 cell, per kernel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65960"/>
          <a:ext cx="6400799" cy="3072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1645920"/>
                <a:gridCol w="210311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Kernel</a:t>
                      </a:r>
                    </a:p>
                  </a:txBody>
                  <a:tcPr marL="64008" marR="64008" marT="18288" marB="18288" anchor="ctr">
                    <a:solidFill>
                      <a:srgbClr val="3A3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Contains OT?</a:t>
                      </a:r>
                    </a:p>
                  </a:txBody>
                  <a:tcPr marL="64008" marR="64008" marT="18288" marB="18288" anchor="ctr">
                    <a:solidFill>
                      <a:srgbClr val="3A3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Macrostates at E7.0</a:t>
                      </a:r>
                    </a:p>
                  </a:txBody>
                  <a:tcPr marL="64008" marR="64008" marT="18288" marB="18288" anchor="ctr">
                    <a:solidFill>
                      <a:srgbClr val="3A30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connectivity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vk0.8_ck0.2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realtime_moscot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99000D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vk0.8_rtk0.2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99000D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vk0.5_rtk0.5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99000D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vk0.2_rtk0.8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99000D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vk0.6_rtk0.2_ck0.2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99000D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both joint runs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99000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223760" y="20116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CC9B4"/>
                </a:solidFill>
                <a:latin typeface="Cambria"/>
              </a:rPr>
              <a:t>Why this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2487168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GPCCA macrostates are metastable regions, and metastability requires stationary probability mass.
A strongly directed transport kernel gives early stages almost no stationary probability — so they cannot be macrostates, by construction.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4773168"/>
            <a:ext cx="4297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9A9A9A"/>
                </a:solidFill>
                <a:latin typeface="Calibri"/>
              </a:rPr>
              <a:t>The connectivity kernel finds E7.0 states for the mirror reason: the isolation we diagnosed as the problem reads as metastability to an undirected kernel.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724144"/>
            <a:ext cx="10911535" cy="439166"/>
          </a:xfrm>
          <a:prstGeom prst="roundRect">
            <a:avLst>
              <a:gd name="adj" fmla="val 6000"/>
            </a:avLst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43016"/>
            <a:ext cx="10454335" cy="256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Consequence: the three runs reporting an initial state at E10.0 are artifacts, not biology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And the one run that does find an E7.0 root is confounded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vk0.8_ck0.2 nominates macrostate 21 as the initial state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676655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1085"/>
                <a:gridCol w="1449977"/>
                <a:gridCol w="1611085"/>
                <a:gridCol w="209441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Macrostate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% E7.0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% tissue “All”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 marL="64008" marR="64008" marT="18288" marB="18288" anchor="ctr">
                    <a:solidFill>
                      <a:srgbClr val="FCC9B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nominated initial state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96.7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96.7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E7.0 macrostate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E7.0 macrostate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657600"/>
            <a:ext cx="6766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Every E7.0 macrostate is also entirely from the whole-embryo dissection, because “All” is used at E7.0 and nowhere else.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463600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572000"/>
            <a:ext cx="6528816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“The root is at E7.0” and “the root is in the undissected sample” predict exactly the same cells.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5150358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5086350"/>
            <a:ext cx="6528816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This is the §10b confound landing precisely where it was predicted 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9202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21031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99000D"/>
                </a:solidFill>
                <a:latin typeface="Calibri"/>
              </a:rPr>
              <a:t>What would break the 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51460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A sample dissected the same way at two stages, or a stage sampled two ways.
This design has neither — dissection was widened as the embryo grew, which is biologically sensible and statistically unfortunate.
Brooks does not help: it is whole-embryo throughout.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A1A1A"/>
                </a:solidFill>
                <a:latin typeface="Cambria"/>
              </a:rPr>
              <a:t>Annotation: no brain exists yet at E7.0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E6E6E"/>
                </a:solidFill>
                <a:latin typeface="Calibri"/>
              </a:rPr>
              <a:t>Two CellTypist models trained on Pijuan-Sala, because no gastrulation model exists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92807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5705856" cy="6042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The zoo has no gastrulation model.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All 60 were checked; the closest is trained on this very dataset, which would be circular.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073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560066"/>
            <a:ext cx="5705856" cy="6042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So two were trained: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E6.5–E7.5 to separate neural-competent epiblast from extraembryonic and mesodermal cells, and E7.5–E8.5 to call actual brain regions.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355339"/>
            <a:ext cx="91440" cy="91440"/>
          </a:xfrm>
          <a:prstGeom prst="ellipse">
            <a:avLst/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291331"/>
            <a:ext cx="5705856" cy="805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E7.0 has no neural plate.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Pijuan-Sala holds 13 neurectoderm cells out of 14,749 there — so the filter excludes non-neural lineages rather than requiring a positive neural call.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572000"/>
          <a:ext cx="5943600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201168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devbrain E7.0, top labels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64008" marR="64008" marT="18288" marB="18288" anchor="ctr">
                    <a:solidFill>
                      <a:srgbClr val="1C171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Epiblast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Nascent mesoderm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3,670</a:t>
                      </a:r>
                    </a:p>
                  </a:txBody>
                  <a:tcPr marL="64008" marR="64008" marT="18288" marB="18288" anchor="ctr">
                    <a:solidFill>
                      <a:srgbClr val="F7F2F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ExE endoderm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1,908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949440" y="1874519"/>
          <a:ext cx="457200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949440" y="48920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050" b="0" i="0">
                <a:solidFill>
                  <a:srgbClr val="6E6E6E"/>
                </a:solidFill>
                <a:latin typeface="Calibri"/>
              </a:rPr>
              <a:t>Marker-panel score by region at E10.0 — each panel peaks in its own region, so the panels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724144"/>
            <a:ext cx="10911535" cy="640588"/>
          </a:xfrm>
          <a:prstGeom prst="roundRect">
            <a:avLst>
              <a:gd name="adj" fmla="val 6000"/>
            </a:avLst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843016"/>
            <a:ext cx="10454335" cy="45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38,167 cells (56%) retained as neural lineage — but averaged over age instead of region, every brain panel reads as zero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Where this leaves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53312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9A9A9A"/>
                </a:solidFill>
                <a:latin typeface="Calibri"/>
              </a:rPr>
              <a:t>Three options, in the order I would try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47088"/>
            <a:ext cx="10881360" cy="1243584"/>
          </a:xfrm>
          <a:prstGeom prst="roundRect">
            <a:avLst>
              <a:gd name="adj" fmla="val 6000"/>
            </a:avLst>
          </a:prstGeom>
          <a:solidFill>
            <a:srgbClr val="2A2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E32F27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75104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Make the transport kernel less absorbing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322576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D8D2D4"/>
                </a:solidFill>
                <a:latin typeface="Calibri"/>
              </a:rPr>
              <a:t>The final stage is currently treated as fully self-transitioning, which is what concentrates all probability mass there. Switching to connectivity-based self-transitions is a one-line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22576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1">
                <a:solidFill>
                  <a:srgbClr val="FCC9B4"/>
                </a:solidFill>
                <a:latin typeface="Calibri"/>
              </a:rPr>
              <a:t>Cheap. Test on a 6,000-cell subsample first — about 4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0400"/>
            <a:ext cx="10881360" cy="1243584"/>
          </a:xfrm>
          <a:prstGeom prst="roundRect">
            <a:avLst>
              <a:gd name="adj" fmla="val 6000"/>
            </a:avLst>
          </a:prstGeom>
          <a:solidFill>
            <a:srgbClr val="2A2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467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E32F27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28416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Restrict to one dissected 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75887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D8D2D4"/>
                </a:solidFill>
                <a:latin typeface="Calibri"/>
              </a:rPr>
              <a:t>Forebrain alone at E9.0–E10.0 breaks the dissection confound, because region is then held constant while stage varies.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675887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1">
                <a:solidFill>
                  <a:srgbClr val="FCC9B4"/>
                </a:solidFill>
                <a:latin typeface="Calibri"/>
              </a:rPr>
              <a:t>Costs the early timepoints entirely — no E7.0, so no root.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53712"/>
            <a:ext cx="10881360" cy="1243584"/>
          </a:xfrm>
          <a:prstGeom prst="roundRect">
            <a:avLst>
              <a:gd name="adj" fmla="val 6000"/>
            </a:avLst>
          </a:prstGeom>
          <a:solidFill>
            <a:srgbClr val="2A2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7000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E32F27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681728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Report the connectivity-kernel root, confound stated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 i="0">
                <a:solidFill>
                  <a:srgbClr val="D8D2D4"/>
                </a:solidFill>
                <a:latin typeface="Calibri"/>
              </a:rPr>
              <a:t>Macrostate 21 is a defensible root if the write-up says plainly that stage and dissection are not separable in this design.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50292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1">
                <a:solidFill>
                  <a:srgbClr val="FCC9B4"/>
                </a:solidFill>
                <a:latin typeface="Calibri"/>
              </a:rPr>
              <a:t>Honest but weak; reviewers will ask the same question.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724144"/>
            <a:ext cx="10911535" cy="439166"/>
          </a:xfrm>
          <a:prstGeom prst="roundRect">
            <a:avLst>
              <a:gd name="adj" fmla="val 6000"/>
            </a:avLst>
          </a:prstGeom>
          <a:solidFill>
            <a:srgbClr val="990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43016"/>
            <a:ext cx="10454335" cy="256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Recommendation: option 1, validated on a subsample before committing another eight-kernel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