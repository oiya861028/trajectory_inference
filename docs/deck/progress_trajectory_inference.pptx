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Median 3,188 genes and 11,692 UMIs per cell. Mitochondrial fraction is under 1% everywhere, which is unusually clean. Filtering removed only 11 cells and 2,448 genes.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sc.tl.pca(n_comps=50) then sc.pp.neighbors(n_neighbors=15, n_pcs=30) - 50 computed, 30 used. Elbow at PC8-10 and flat past PC15, so 30 is adequate-to-generous. Variance: PC1 4.5%, PC2 3.3%, first 10 19.9%, first 30 28.3%, all 50 32.0%. The flatness means the graph rests on many weak directions, which is part of why E7.0 separates so completely. Note the CellRank notebook rebuilds its graph as n_neighbors=30 over the full 50-component Harmony representation, so the PC count differs there.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Harmony-on-chip is shown as the second row for comparison only; it was rejected. The same figure exists for tissue and sample.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problem of the project. The graph has no path from E7.0 to the later stages, so a trajectory rooted there is unsupported by the graph it runs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Quantified: library pairs matching region across different stages correlate 0.9576, and pairs matching stage across different regions 0.9579. Indistinguishable. One region is worth about one stage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Scanpy's default viridis puts its darkest end at zero, which on a mostly-zero matrix buries the expressing cells under the majority. These plots paint non-expressors flat grey and the brightest cells last.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Harmony removes variation shared between batches. With no chip spanning both ends, the mixing it produced cannot be a corrected batch effect — it was manufactured because the key asserted the clouds were the same batch. Rejected, and we went looking for a real bridge instead.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flat heatmap is the point. If pseudobulk correlation cannot tell E7.0-vs-E8.5 apart from E8.0-vs-E8.0, it is not measuring developmental distance - it is measuring the shared mean-expression axis. The ceiling from two random halves of one stage is 0.9999, so 0.95 is far from identical.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E7.0 to E7.5 neighbour share went from 0.05% to 8.75%, and to E7.75 from 0.03% to 3.33%. Critically, E7.0 to E9.0/E10.0 stayed at 0.01% - the bridge added intermediate stages rather than inventing a shortcut across three days.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published loom is no longer downloadable - the bucket 404s, and surviving mirrors either hold only pooled counts or exclude Gli1, Hhip and Shh. So it was rebuilt from the original BAMs.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Macrostate 21 is nominated as the root and is 100% E7.0 - but also 100% from the one whole-embryo dissection, so the two readings cannot be told apart.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was empty on the first attempt. All eight runs had raised and the loop caught each exception while printing only its message, so the matrix was 0x0 and imshow produced a blank panel with no error anywhere.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finding that matters. Moscot was added specifically to carry early cells forward. In the joint object nothing lands before E8.0, so E7.0, E7.5 and E7.75 - 26% of the cells - are entirely unrepresented, Brooks bridge notwithstanding.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515600" cy="1371600"/>
          </a:xfrm>
          <a:prstGeom prst="rect">
            <a:avLst/>
          </a:prstGeom>
          <a:noFill/>
        </p:spPr>
        <p:txBody>
          <a:bodyPr wrap="square" lIns="0" rIns="0" tIns="0" bIns="0" anchor="t">
            <a:spAutoFit/>
          </a:bodyPr>
          <a:lstStyle/>
          <a:p>
            <a:pPr algn="l">
              <a:lnSpc>
                <a:spcPct val="110000"/>
              </a:lnSpc>
              <a:spcAft>
                <a:spcPts val="600"/>
              </a:spcAft>
            </a:pPr>
            <a:r>
              <a:rPr sz="4000" b="1" i="0">
                <a:solidFill>
                  <a:srgbClr val="FFFFFF"/>
                </a:solidFill>
                <a:latin typeface="Cambria"/>
              </a:rPr>
              <a:t>Trajectory inference in the
E7.0–E10.0 mouse embryonic brain</a:t>
            </a:r>
          </a:p>
        </p:txBody>
      </p:sp>
      <p:sp>
        <p:nvSpPr>
          <p:cNvPr id="4" name="TextBox 3"/>
          <p:cNvSpPr txBox="1"/>
          <p:nvPr/>
        </p:nvSpPr>
        <p:spPr>
          <a:xfrm>
            <a:off x="822960" y="3520440"/>
            <a:ext cx="9692640" cy="365760"/>
          </a:xfrm>
          <a:prstGeom prst="rect">
            <a:avLst/>
          </a:prstGeom>
          <a:noFill/>
        </p:spPr>
        <p:txBody>
          <a:bodyPr wrap="square" lIns="0" rIns="0" tIns="0" bIns="0" anchor="t">
            <a:spAutoFit/>
          </a:bodyPr>
          <a:lstStyle/>
          <a:p>
            <a:pPr algn="l">
              <a:spcAft>
                <a:spcPts val="600"/>
              </a:spcAft>
            </a:pPr>
            <a:r>
              <a:rPr sz="1500" b="0" i="0">
                <a:solidFill>
                  <a:srgbClr val="FCC9B4"/>
                </a:solidFill>
                <a:latin typeface="Calibri"/>
              </a:rPr>
              <a:t>La Manno E7–E10, joint integration with Brooks 2025, preliminary CellRank</a:t>
            </a:r>
          </a:p>
        </p:txBody>
      </p:sp>
      <p:sp>
        <p:nvSpPr>
          <p:cNvPr id="5" name="TextBox 4"/>
          <p:cNvSpPr txBox="1"/>
          <p:nvPr/>
        </p:nvSpPr>
        <p:spPr>
          <a:xfrm>
            <a:off x="822960" y="4572000"/>
            <a:ext cx="3291840" cy="457200"/>
          </a:xfrm>
          <a:prstGeom prst="rect">
            <a:avLst/>
          </a:prstGeom>
          <a:noFill/>
        </p:spPr>
        <p:txBody>
          <a:bodyPr wrap="square" lIns="0" rIns="0" tIns="0" bIns="0" anchor="t">
            <a:spAutoFit/>
          </a:bodyPr>
          <a:lstStyle/>
          <a:p>
            <a:pPr algn="l">
              <a:spcAft>
                <a:spcPts val="0"/>
              </a:spcAft>
            </a:pPr>
            <a:r>
              <a:rPr sz="2600" b="1" i="0">
                <a:solidFill>
                  <a:srgbClr val="E32F27"/>
                </a:solidFill>
                <a:latin typeface="Cambria"/>
              </a:rPr>
              <a:t>68,166</a:t>
            </a:r>
          </a:p>
        </p:txBody>
      </p:sp>
      <p:sp>
        <p:nvSpPr>
          <p:cNvPr id="6" name="TextBox 5"/>
          <p:cNvSpPr txBox="1"/>
          <p:nvPr/>
        </p:nvSpPr>
        <p:spPr>
          <a:xfrm>
            <a:off x="822960" y="5074920"/>
            <a:ext cx="3291840" cy="274320"/>
          </a:xfrm>
          <a:prstGeom prst="rect">
            <a:avLst/>
          </a:prstGeom>
          <a:noFill/>
        </p:spPr>
        <p:txBody>
          <a:bodyPr wrap="square" lIns="0" rIns="0" tIns="0" bIns="0" anchor="t">
            <a:spAutoFit/>
          </a:bodyPr>
          <a:lstStyle/>
          <a:p>
            <a:pPr algn="l">
              <a:spcAft>
                <a:spcPts val="0"/>
              </a:spcAft>
            </a:pPr>
            <a:r>
              <a:rPr sz="1150" b="0" i="0">
                <a:solidFill>
                  <a:srgbClr val="9A9A9A"/>
                </a:solidFill>
                <a:latin typeface="Calibri"/>
              </a:rPr>
              <a:t>cells, 19 libraries</a:t>
            </a:r>
          </a:p>
        </p:txBody>
      </p:sp>
      <p:sp>
        <p:nvSpPr>
          <p:cNvPr id="7" name="TextBox 6"/>
          <p:cNvSpPr txBox="1"/>
          <p:nvPr/>
        </p:nvSpPr>
        <p:spPr>
          <a:xfrm>
            <a:off x="4389120" y="4572000"/>
            <a:ext cx="3291840" cy="457200"/>
          </a:xfrm>
          <a:prstGeom prst="rect">
            <a:avLst/>
          </a:prstGeom>
          <a:noFill/>
        </p:spPr>
        <p:txBody>
          <a:bodyPr wrap="square" lIns="0" rIns="0" tIns="0" bIns="0" anchor="t">
            <a:spAutoFit/>
          </a:bodyPr>
          <a:lstStyle/>
          <a:p>
            <a:pPr algn="l">
              <a:spcAft>
                <a:spcPts val="0"/>
              </a:spcAft>
            </a:pPr>
            <a:r>
              <a:rPr sz="2600" b="1" i="0">
                <a:solidFill>
                  <a:srgbClr val="E32F27"/>
                </a:solidFill>
                <a:latin typeface="Cambria"/>
              </a:rPr>
              <a:t>107,629</a:t>
            </a:r>
          </a:p>
        </p:txBody>
      </p:sp>
      <p:sp>
        <p:nvSpPr>
          <p:cNvPr id="8" name="TextBox 7"/>
          <p:cNvSpPr txBox="1"/>
          <p:nvPr/>
        </p:nvSpPr>
        <p:spPr>
          <a:xfrm>
            <a:off x="4389120" y="5074920"/>
            <a:ext cx="3291840" cy="274320"/>
          </a:xfrm>
          <a:prstGeom prst="rect">
            <a:avLst/>
          </a:prstGeom>
          <a:noFill/>
        </p:spPr>
        <p:txBody>
          <a:bodyPr wrap="square" lIns="0" rIns="0" tIns="0" bIns="0" anchor="t">
            <a:spAutoFit/>
          </a:bodyPr>
          <a:lstStyle/>
          <a:p>
            <a:pPr algn="l">
              <a:spcAft>
                <a:spcPts val="0"/>
              </a:spcAft>
            </a:pPr>
            <a:r>
              <a:rPr sz="1150" b="0" i="0">
                <a:solidFill>
                  <a:srgbClr val="9A9A9A"/>
                </a:solidFill>
                <a:latin typeface="Calibri"/>
              </a:rPr>
              <a:t>cells once Brooks is joined</a:t>
            </a:r>
          </a:p>
        </p:txBody>
      </p:sp>
      <p:sp>
        <p:nvSpPr>
          <p:cNvPr id="9" name="TextBox 8"/>
          <p:cNvSpPr txBox="1"/>
          <p:nvPr/>
        </p:nvSpPr>
        <p:spPr>
          <a:xfrm>
            <a:off x="7955279" y="4572000"/>
            <a:ext cx="3291840" cy="457200"/>
          </a:xfrm>
          <a:prstGeom prst="rect">
            <a:avLst/>
          </a:prstGeom>
          <a:noFill/>
        </p:spPr>
        <p:txBody>
          <a:bodyPr wrap="square" lIns="0" rIns="0" tIns="0" bIns="0" anchor="t">
            <a:spAutoFit/>
          </a:bodyPr>
          <a:lstStyle/>
          <a:p>
            <a:pPr algn="l">
              <a:spcAft>
                <a:spcPts val="0"/>
              </a:spcAft>
            </a:pPr>
            <a:r>
              <a:rPr sz="2600" b="1" i="0">
                <a:solidFill>
                  <a:srgbClr val="E32F27"/>
                </a:solidFill>
                <a:latin typeface="Cambria"/>
              </a:rPr>
              <a:t>8</a:t>
            </a:r>
          </a:p>
        </p:txBody>
      </p:sp>
      <p:sp>
        <p:nvSpPr>
          <p:cNvPr id="10" name="TextBox 9"/>
          <p:cNvSpPr txBox="1"/>
          <p:nvPr/>
        </p:nvSpPr>
        <p:spPr>
          <a:xfrm>
            <a:off x="7955279" y="5074920"/>
            <a:ext cx="3291840" cy="274320"/>
          </a:xfrm>
          <a:prstGeom prst="rect">
            <a:avLst/>
          </a:prstGeom>
          <a:noFill/>
        </p:spPr>
        <p:txBody>
          <a:bodyPr wrap="square" lIns="0" rIns="0" tIns="0" bIns="0" anchor="t">
            <a:spAutoFit/>
          </a:bodyPr>
          <a:lstStyle/>
          <a:p>
            <a:pPr algn="l">
              <a:spcAft>
                <a:spcPts val="0"/>
              </a:spcAft>
            </a:pPr>
            <a:r>
              <a:rPr sz="1150" b="0" i="0">
                <a:solidFill>
                  <a:srgbClr val="9A9A9A"/>
                </a:solidFill>
                <a:latin typeface="Calibri"/>
              </a:rPr>
              <a:t>CellRank kernel weightings</a:t>
            </a:r>
          </a:p>
        </p:txBody>
      </p:sp>
      <p:sp>
        <p:nvSpPr>
          <p:cNvPr id="11" name="TextBox 10"/>
          <p:cNvSpPr txBox="1"/>
          <p:nvPr/>
        </p:nvSpPr>
        <p:spPr>
          <a:xfrm>
            <a:off x="822960" y="5989320"/>
            <a:ext cx="10515600" cy="274320"/>
          </a:xfrm>
          <a:prstGeom prst="rect">
            <a:avLst/>
          </a:prstGeom>
          <a:noFill/>
        </p:spPr>
        <p:txBody>
          <a:bodyPr wrap="square" lIns="0" rIns="0" tIns="0" bIns="0" anchor="t">
            <a:spAutoFit/>
          </a:bodyPr>
          <a:lstStyle/>
          <a:p>
            <a:pPr algn="l">
              <a:spcAft>
                <a:spcPts val="0"/>
              </a:spcAft>
            </a:pPr>
            <a:r>
              <a:rPr sz="1100" b="0" i="0">
                <a:solidFill>
                  <a:srgbClr val="6E6E6E"/>
                </a:solidFill>
                <a:latin typeface="Calibri"/>
              </a:rPr>
              <a:t>Yubin  ·  Moskowitz Lab  ·  30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828800" cy="1280160"/>
          </a:xfrm>
          <a:prstGeom prst="rect">
            <a:avLst/>
          </a:prstGeom>
          <a:noFill/>
        </p:spPr>
        <p:txBody>
          <a:bodyPr wrap="square" lIns="0" rIns="0" tIns="0" bIns="0" anchor="t">
            <a:spAutoFit/>
          </a:bodyPr>
          <a:lstStyle/>
          <a:p>
            <a:pPr algn="l">
              <a:spcAft>
                <a:spcPts val="0"/>
              </a:spcAft>
            </a:pPr>
            <a:r>
              <a:rPr sz="7800" b="1" i="0">
                <a:solidFill>
                  <a:srgbClr val="99000D"/>
                </a:solidFill>
                <a:latin typeface="Cambria"/>
              </a:rPr>
              <a:t>1</a:t>
            </a:r>
          </a:p>
        </p:txBody>
      </p:sp>
      <p:sp>
        <p:nvSpPr>
          <p:cNvPr id="4" name="TextBox 3"/>
          <p:cNvSpPr txBox="1"/>
          <p:nvPr/>
        </p:nvSpPr>
        <p:spPr>
          <a:xfrm>
            <a:off x="822960" y="3218688"/>
            <a:ext cx="10424160" cy="1097280"/>
          </a:xfrm>
          <a:prstGeom prst="rect">
            <a:avLst/>
          </a:prstGeom>
          <a:noFill/>
        </p:spPr>
        <p:txBody>
          <a:bodyPr wrap="square" lIns="0" rIns="0" tIns="0" bIns="0" anchor="t">
            <a:spAutoFit/>
          </a:bodyPr>
          <a:lstStyle/>
          <a:p>
            <a:pPr algn="l">
              <a:lnSpc>
                <a:spcPct val="112000"/>
              </a:lnSpc>
              <a:spcAft>
                <a:spcPts val="0"/>
              </a:spcAft>
            </a:pPr>
            <a:r>
              <a:rPr sz="3000" b="1" i="0">
                <a:solidFill>
                  <a:srgbClr val="FFFFFF"/>
                </a:solidFill>
                <a:latin typeface="Cambria"/>
              </a:rPr>
              <a:t>The La Manno dataset on its own</a:t>
            </a:r>
          </a:p>
        </p:txBody>
      </p:sp>
      <p:sp>
        <p:nvSpPr>
          <p:cNvPr id="5" name="TextBox 4"/>
          <p:cNvSpPr txBox="1"/>
          <p:nvPr/>
        </p:nvSpPr>
        <p:spPr>
          <a:xfrm>
            <a:off x="822960" y="4407408"/>
            <a:ext cx="9509760" cy="822960"/>
          </a:xfrm>
          <a:prstGeom prst="rect">
            <a:avLst/>
          </a:prstGeom>
          <a:noFill/>
        </p:spPr>
        <p:txBody>
          <a:bodyPr wrap="square" lIns="0" rIns="0" tIns="0" bIns="0" anchor="t">
            <a:spAutoFit/>
          </a:bodyPr>
          <a:lstStyle/>
          <a:p>
            <a:pPr algn="l">
              <a:lnSpc>
                <a:spcPct val="130000"/>
              </a:lnSpc>
              <a:spcAft>
                <a:spcPts val="0"/>
              </a:spcAft>
            </a:pPr>
            <a:r>
              <a:rPr sz="1500" b="0" i="0">
                <a:solidFill>
                  <a:srgbClr val="FCC9B4"/>
                </a:solidFill>
                <a:latin typeface="Calibri"/>
              </a:rPr>
              <a:t>Quality control, feature selection, PCA, UMAP and hedgehog expression — before any integration.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Quality control by stage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Comparable across all five stages — no stage needed special handling.</a:t>
            </a:r>
          </a:p>
        </p:txBody>
      </p:sp>
      <p:pic>
        <p:nvPicPr>
          <p:cNvPr id="4" name="Picture 3" descr="violin_qc_by_age.png"/>
          <p:cNvPicPr>
            <a:picLocks noChangeAspect="1"/>
          </p:cNvPicPr>
          <p:nvPr/>
        </p:nvPicPr>
        <p:blipFill>
          <a:blip r:embed="rId2"/>
          <a:stretch>
            <a:fillRect/>
          </a:stretch>
        </p:blipFill>
        <p:spPr>
          <a:xfrm>
            <a:off x="640080" y="2296332"/>
            <a:ext cx="10911535" cy="333518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Quality metrics on the UMAP</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No cluster is defined by depth or mitochondrial content — structure is not an artifact.</a:t>
            </a:r>
          </a:p>
        </p:txBody>
      </p:sp>
      <p:pic>
        <p:nvPicPr>
          <p:cNvPr id="4" name="Picture 3" descr="umap_qc.png"/>
          <p:cNvPicPr>
            <a:picLocks noChangeAspect="1"/>
          </p:cNvPicPr>
          <p:nvPr/>
        </p:nvPicPr>
        <p:blipFill>
          <a:blip r:embed="rId2"/>
          <a:stretch>
            <a:fillRect/>
          </a:stretch>
        </p:blipFill>
        <p:spPr>
          <a:xfrm>
            <a:off x="640080" y="2274730"/>
            <a:ext cx="10911535" cy="337838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Highly variable gene selection</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2,000 genes per batch; hedgehog genes retained explicitly, being too sparse to survive.</a:t>
            </a:r>
          </a:p>
        </p:txBody>
      </p:sp>
      <p:pic>
        <p:nvPicPr>
          <p:cNvPr id="4" name="Picture 3" descr="filter_genes_dispersion_hvg.png"/>
          <p:cNvPicPr>
            <a:picLocks noChangeAspect="1"/>
          </p:cNvPicPr>
          <p:nvPr/>
        </p:nvPicPr>
        <p:blipFill>
          <a:blip r:embed="rId2"/>
          <a:stretch>
            <a:fillRect/>
          </a:stretch>
        </p:blipFill>
        <p:spPr>
          <a:xfrm>
            <a:off x="1563161" y="1572768"/>
            <a:ext cx="9065371" cy="478231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PCA variance is spread thin</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PC1 carries 4.5%; 50 components computed, the first 30 feed the neighbour graph.</a:t>
            </a:r>
          </a:p>
        </p:txBody>
      </p:sp>
      <p:pic>
        <p:nvPicPr>
          <p:cNvPr id="4" name="Picture 3" descr="pca_variance.png"/>
          <p:cNvPicPr>
            <a:picLocks noChangeAspect="1"/>
          </p:cNvPicPr>
          <p:nvPr/>
        </p:nvPicPr>
        <p:blipFill>
          <a:blip r:embed="rId2"/>
          <a:stretch>
            <a:fillRect/>
          </a:stretch>
        </p:blipFill>
        <p:spPr>
          <a:xfrm>
            <a:off x="640080" y="2113576"/>
            <a:ext cx="10911535" cy="370069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PCA by stage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E7.0 sits apart already in PCA space, before any graph is built.</a:t>
            </a:r>
          </a:p>
        </p:txBody>
      </p:sp>
      <p:pic>
        <p:nvPicPr>
          <p:cNvPr id="4" name="Picture 3" descr="pca_scatter_age.png"/>
          <p:cNvPicPr>
            <a:picLocks noChangeAspect="1"/>
          </p:cNvPicPr>
          <p:nvPr/>
        </p:nvPicPr>
        <p:blipFill>
          <a:blip r:embed="rId2"/>
          <a:stretch>
            <a:fillRect/>
          </a:stretch>
        </p:blipFill>
        <p:spPr>
          <a:xfrm>
            <a:off x="3312639" y="1572768"/>
            <a:ext cx="5566416" cy="478231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Unintegrated UMAP</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By stage, region and library — hard to tell apart, because they covary by design.</a:t>
            </a:r>
          </a:p>
        </p:txBody>
      </p:sp>
      <p:pic>
        <p:nvPicPr>
          <p:cNvPr id="4" name="Picture 3" descr="umap_age_tissue_sample.png"/>
          <p:cNvPicPr>
            <a:picLocks noChangeAspect="1"/>
          </p:cNvPicPr>
          <p:nvPr/>
        </p:nvPicPr>
        <p:blipFill>
          <a:blip r:embed="rId2"/>
          <a:stretch>
            <a:fillRect/>
          </a:stretch>
        </p:blipFill>
        <p:spPr>
          <a:xfrm>
            <a:off x="640080" y="2653560"/>
            <a:ext cx="10911535" cy="262072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One panel per stage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E7.0 touches nothing else: 98.6% self-neighbours, 0.0% reaching E9.0 or E10.0.</a:t>
            </a:r>
          </a:p>
        </p:txBody>
      </p:sp>
      <p:pic>
        <p:nvPicPr>
          <p:cNvPr id="4" name="Picture 3" descr="umap_facet_age.png"/>
          <p:cNvPicPr>
            <a:picLocks noChangeAspect="1"/>
          </p:cNvPicPr>
          <p:nvPr/>
        </p:nvPicPr>
        <p:blipFill>
          <a:blip r:embed="rId2"/>
          <a:stretch>
            <a:fillRect/>
          </a:stretch>
        </p:blipFill>
        <p:spPr>
          <a:xfrm>
            <a:off x="2312779" y="1572768"/>
            <a:ext cx="7566137" cy="478231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One panel per dissected region</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Dissection widens with stage, so region and stage cannot be separated.</a:t>
            </a:r>
          </a:p>
        </p:txBody>
      </p:sp>
      <p:pic>
        <p:nvPicPr>
          <p:cNvPr id="4" name="Picture 3" descr="umap_facet_tissue.png"/>
          <p:cNvPicPr>
            <a:picLocks noChangeAspect="1"/>
          </p:cNvPicPr>
          <p:nvPr/>
        </p:nvPicPr>
        <p:blipFill>
          <a:blip r:embed="rId2"/>
          <a:stretch>
            <a:fillRect/>
          </a:stretch>
        </p:blipFill>
        <p:spPr>
          <a:xfrm>
            <a:off x="2312779" y="1572768"/>
            <a:ext cx="7566137" cy="478231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Leiden clusters and hedgehog expression per cluster</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Expression is cluster-restricted rather than uniform — what a readout needs.</a:t>
            </a:r>
          </a:p>
        </p:txBody>
      </p:sp>
      <p:sp>
        <p:nvSpPr>
          <p:cNvPr id="4" name="TextBox 3"/>
          <p:cNvSpPr txBox="1"/>
          <p:nvPr/>
        </p:nvSpPr>
        <p:spPr>
          <a:xfrm>
            <a:off x="3204740" y="1572768"/>
            <a:ext cx="4364119"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Leiden clusters</a:t>
            </a:r>
          </a:p>
        </p:txBody>
      </p:sp>
      <p:pic>
        <p:nvPicPr>
          <p:cNvPr id="5" name="Picture 4" descr="umap_leiden.png"/>
          <p:cNvPicPr>
            <a:picLocks noChangeAspect="1"/>
          </p:cNvPicPr>
          <p:nvPr/>
        </p:nvPicPr>
        <p:blipFill>
          <a:blip r:embed="rId2"/>
          <a:stretch>
            <a:fillRect/>
          </a:stretch>
        </p:blipFill>
        <p:spPr>
          <a:xfrm>
            <a:off x="3204740" y="1847088"/>
            <a:ext cx="4364120" cy="4507992"/>
          </a:xfrm>
          <a:prstGeom prst="rect">
            <a:avLst/>
          </a:prstGeom>
        </p:spPr>
      </p:pic>
      <p:sp>
        <p:nvSpPr>
          <p:cNvPr id="6" name="TextBox 5"/>
          <p:cNvSpPr txBox="1"/>
          <p:nvPr/>
        </p:nvSpPr>
        <p:spPr>
          <a:xfrm>
            <a:off x="7733451" y="1572768"/>
            <a:ext cx="1253503"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Hh by cluster</a:t>
            </a:r>
          </a:p>
        </p:txBody>
      </p:sp>
      <p:pic>
        <p:nvPicPr>
          <p:cNvPr id="7" name="Picture 6" descr="dotplot__hedgehog_by_leiden.png"/>
          <p:cNvPicPr>
            <a:picLocks noChangeAspect="1"/>
          </p:cNvPicPr>
          <p:nvPr/>
        </p:nvPicPr>
        <p:blipFill>
          <a:blip r:embed="rId3"/>
          <a:stretch>
            <a:fillRect/>
          </a:stretch>
        </p:blipFill>
        <p:spPr>
          <a:xfrm>
            <a:off x="7733451" y="1847088"/>
            <a:ext cx="1253503" cy="450799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Hedgehog pathway on the UMAP</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Shh and Gli1 sparse and localised, Smo and Ptch1 broad; non-expressors in grey.</a:t>
            </a:r>
          </a:p>
        </p:txBody>
      </p:sp>
      <p:pic>
        <p:nvPicPr>
          <p:cNvPr id="4" name="Picture 3" descr="umap_hedgehog_genes.png"/>
          <p:cNvPicPr>
            <a:picLocks noChangeAspect="1"/>
          </p:cNvPicPr>
          <p:nvPr/>
        </p:nvPicPr>
        <p:blipFill>
          <a:blip r:embed="rId2"/>
          <a:stretch>
            <a:fillRect/>
          </a:stretch>
        </p:blipFill>
        <p:spPr>
          <a:xfrm>
            <a:off x="3462765" y="1572768"/>
            <a:ext cx="5266163" cy="478231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Hedgehog expression by stage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Activity rises after E8.0, as Shh signalling begins once the neural tube forms.</a:t>
            </a:r>
          </a:p>
        </p:txBody>
      </p:sp>
      <p:pic>
        <p:nvPicPr>
          <p:cNvPr id="4" name="Picture 3" descr="violin_hedgehog_by_age.png"/>
          <p:cNvPicPr>
            <a:picLocks noChangeAspect="1"/>
          </p:cNvPicPr>
          <p:nvPr/>
        </p:nvPicPr>
        <p:blipFill>
          <a:blip r:embed="rId2"/>
          <a:stretch>
            <a:fillRect/>
          </a:stretch>
        </p:blipFill>
        <p:spPr>
          <a:xfrm>
            <a:off x="640080" y="2691453"/>
            <a:ext cx="10911535" cy="254494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Harmony on chip — tested, then rejected</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Mixing rose 0.01% → 6.22%, but no chip spans both ends, so there was nothing to correct.</a:t>
            </a:r>
          </a:p>
        </p:txBody>
      </p:sp>
      <p:pic>
        <p:nvPicPr>
          <p:cNvPr id="4" name="Picture 3" descr="before_after_chip.png"/>
          <p:cNvPicPr>
            <a:picLocks noChangeAspect="1"/>
          </p:cNvPicPr>
          <p:nvPr/>
        </p:nvPicPr>
        <p:blipFill>
          <a:blip r:embed="rId2"/>
          <a:stretch>
            <a:fillRect/>
          </a:stretch>
        </p:blipFill>
        <p:spPr>
          <a:xfrm>
            <a:off x="883412" y="1572768"/>
            <a:ext cx="10424869" cy="478231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828800" cy="1280160"/>
          </a:xfrm>
          <a:prstGeom prst="rect">
            <a:avLst/>
          </a:prstGeom>
          <a:noFill/>
        </p:spPr>
        <p:txBody>
          <a:bodyPr wrap="square" lIns="0" rIns="0" tIns="0" bIns="0" anchor="t">
            <a:spAutoFit/>
          </a:bodyPr>
          <a:lstStyle/>
          <a:p>
            <a:pPr algn="l">
              <a:spcAft>
                <a:spcPts val="0"/>
              </a:spcAft>
            </a:pPr>
            <a:r>
              <a:rPr sz="7800" b="1" i="0">
                <a:solidFill>
                  <a:srgbClr val="99000D"/>
                </a:solidFill>
                <a:latin typeface="Cambria"/>
              </a:rPr>
              <a:t>2</a:t>
            </a:r>
          </a:p>
        </p:txBody>
      </p:sp>
      <p:sp>
        <p:nvSpPr>
          <p:cNvPr id="4" name="TextBox 3"/>
          <p:cNvSpPr txBox="1"/>
          <p:nvPr/>
        </p:nvSpPr>
        <p:spPr>
          <a:xfrm>
            <a:off x="822960" y="3218688"/>
            <a:ext cx="10424160" cy="1097280"/>
          </a:xfrm>
          <a:prstGeom prst="rect">
            <a:avLst/>
          </a:prstGeom>
          <a:noFill/>
        </p:spPr>
        <p:txBody>
          <a:bodyPr wrap="square" lIns="0" rIns="0" tIns="0" bIns="0" anchor="t">
            <a:spAutoFit/>
          </a:bodyPr>
          <a:lstStyle/>
          <a:p>
            <a:pPr algn="l">
              <a:lnSpc>
                <a:spcPct val="112000"/>
              </a:lnSpc>
              <a:spcAft>
                <a:spcPts val="0"/>
              </a:spcAft>
            </a:pPr>
            <a:r>
              <a:rPr sz="3000" b="1" i="0">
                <a:solidFill>
                  <a:srgbClr val="FFFFFF"/>
                </a:solidFill>
                <a:latin typeface="Cambria"/>
              </a:rPr>
              <a:t>Joining Brooks 2025, and a first CellRank run</a:t>
            </a:r>
          </a:p>
        </p:txBody>
      </p:sp>
      <p:sp>
        <p:nvSpPr>
          <p:cNvPr id="5" name="TextBox 4"/>
          <p:cNvSpPr txBox="1"/>
          <p:nvPr/>
        </p:nvSpPr>
        <p:spPr>
          <a:xfrm>
            <a:off x="822960" y="4407408"/>
            <a:ext cx="9509760" cy="822960"/>
          </a:xfrm>
          <a:prstGeom prst="rect">
            <a:avLst/>
          </a:prstGeom>
          <a:noFill/>
        </p:spPr>
        <p:txBody>
          <a:bodyPr wrap="square" lIns="0" rIns="0" tIns="0" bIns="0" anchor="t">
            <a:spAutoFit/>
          </a:bodyPr>
          <a:lstStyle/>
          <a:p>
            <a:pPr algn="l">
              <a:lnSpc>
                <a:spcPct val="130000"/>
              </a:lnSpc>
              <a:spcAft>
                <a:spcPts val="0"/>
              </a:spcAft>
            </a:pPr>
            <a:r>
              <a:rPr sz="1500" b="0" i="0">
                <a:solidFill>
                  <a:srgbClr val="FCC9B4"/>
                </a:solidFill>
                <a:latin typeface="Calibri"/>
              </a:rPr>
              <a:t>A second dataset to bridge the E7.0–E8.0 gap, then velocity and optimal transport on the result.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The two datasets are not technically alike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3.6× deeper per cell, yet every cross-dataset stage pair sits at r = 0.93–0.96.</a:t>
            </a:r>
          </a:p>
        </p:txBody>
      </p:sp>
      <p:pic>
        <p:nvPicPr>
          <p:cNvPr id="4" name="Picture 3" descr="dataset_comparison.png"/>
          <p:cNvPicPr>
            <a:picLocks noChangeAspect="1"/>
          </p:cNvPicPr>
          <p:nvPr/>
        </p:nvPicPr>
        <p:blipFill>
          <a:blip r:embed="rId2"/>
          <a:stretch>
            <a:fillRect/>
          </a:stretch>
        </p:blipFill>
        <p:spPr>
          <a:xfrm>
            <a:off x="2988430" y="1572768"/>
            <a:ext cx="6214835" cy="478231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Integration by dataset, before and after Harmony</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Self-neighbour share falls from 99.6% / 99.8% to 80.3% / 86.3% — they interdigitate.</a:t>
            </a:r>
          </a:p>
        </p:txBody>
      </p:sp>
      <p:pic>
        <p:nvPicPr>
          <p:cNvPr id="4" name="Picture 3" descr="before_after_dataset.png"/>
          <p:cNvPicPr>
            <a:picLocks noChangeAspect="1"/>
          </p:cNvPicPr>
          <p:nvPr/>
        </p:nvPicPr>
        <p:blipFill>
          <a:blip r:embed="rId2"/>
          <a:stretch>
            <a:fillRect/>
          </a:stretch>
        </p:blipFill>
        <p:spPr>
          <a:xfrm>
            <a:off x="640080" y="1643541"/>
            <a:ext cx="10911535" cy="464076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Integration by stage, before and after Harmony</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Nine stages form one gradient; the graph is now a single component, 100% of cells.</a:t>
            </a:r>
          </a:p>
        </p:txBody>
      </p:sp>
      <p:pic>
        <p:nvPicPr>
          <p:cNvPr id="4" name="Picture 3" descr="before_after_stage.png"/>
          <p:cNvPicPr>
            <a:picLocks noChangeAspect="1"/>
          </p:cNvPicPr>
          <p:nvPr/>
        </p:nvPicPr>
        <p:blipFill>
          <a:blip r:embed="rId2"/>
          <a:stretch>
            <a:fillRect/>
          </a:stretch>
        </p:blipFill>
        <p:spPr>
          <a:xfrm>
            <a:off x="640080" y="1643541"/>
            <a:ext cx="10911535" cy="464076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Joint object, one panel per stage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Brooks supplies E7.5 to E8.75 — exactly the window the La Manno series skips.</a:t>
            </a:r>
          </a:p>
        </p:txBody>
      </p:sp>
      <p:pic>
        <p:nvPicPr>
          <p:cNvPr id="4" name="Picture 3" descr="umap_facet_stage.png"/>
          <p:cNvPicPr>
            <a:picLocks noChangeAspect="1"/>
          </p:cNvPicPr>
          <p:nvPr/>
        </p:nvPicPr>
        <p:blipFill>
          <a:blip r:embed="rId2"/>
          <a:stretch>
            <a:fillRect/>
          </a:stretch>
        </p:blipFill>
        <p:spPr>
          <a:xfrm>
            <a:off x="3463346" y="1572768"/>
            <a:ext cx="5265001" cy="4782311"/>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Joint PCA variance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Same axes as slide 6: PC1 3.6% here versus 4.5% alone — two platforms spread it thinner.</a:t>
            </a:r>
          </a:p>
        </p:txBody>
      </p:sp>
      <p:pic>
        <p:nvPicPr>
          <p:cNvPr id="4" name="Picture 3" descr="pca_variance.png"/>
          <p:cNvPicPr>
            <a:picLocks noChangeAspect="1"/>
          </p:cNvPicPr>
          <p:nvPr/>
        </p:nvPicPr>
        <p:blipFill>
          <a:blip r:embed="rId2"/>
          <a:stretch>
            <a:fillRect/>
          </a:stretch>
        </p:blipFill>
        <p:spPr>
          <a:xfrm>
            <a:off x="640080" y="2114426"/>
            <a:ext cx="10911535" cy="3698995"/>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Joint PCA, uncorrected versus Harmony</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Components that separated the datasets no longer do — the intended behaviour.</a:t>
            </a:r>
          </a:p>
        </p:txBody>
      </p:sp>
      <p:pic>
        <p:nvPicPr>
          <p:cNvPr id="4" name="Picture 3" descr="pca_scatter_dataset.png"/>
          <p:cNvPicPr>
            <a:picLocks noChangeAspect="1"/>
          </p:cNvPicPr>
          <p:nvPr/>
        </p:nvPicPr>
        <p:blipFill>
          <a:blip r:embed="rId2"/>
          <a:stretch>
            <a:fillRect/>
          </a:stretch>
        </p:blipFill>
        <p:spPr>
          <a:xfrm>
            <a:off x="3311425" y="1572768"/>
            <a:ext cx="5568844" cy="478231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Hedgehog pathway on the joint UMAP</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All seven genes survive the 15,200-gene intersection; Shh in 3,578 of 107,629 cells.</a:t>
            </a:r>
          </a:p>
        </p:txBody>
      </p:sp>
      <p:pic>
        <p:nvPicPr>
          <p:cNvPr id="4" name="Picture 3" descr="features_hedgehog_umap.png"/>
          <p:cNvPicPr>
            <a:picLocks noChangeAspect="1"/>
          </p:cNvPicPr>
          <p:nvPr/>
        </p:nvPicPr>
        <p:blipFill>
          <a:blip r:embed="rId2"/>
          <a:stretch>
            <a:fillRect/>
          </a:stretch>
        </p:blipFill>
        <p:spPr>
          <a:xfrm>
            <a:off x="2115054" y="1691640"/>
            <a:ext cx="7961586" cy="3429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Regional markers on the joint UMAP</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Six3, Otx2, En1, Gbx2 and Hoxb1 occupy distinct territory along the A–P axis.</a:t>
            </a:r>
          </a:p>
        </p:txBody>
      </p:sp>
      <p:pic>
        <p:nvPicPr>
          <p:cNvPr id="4" name="Picture 3" descr="features_regional_umap.png"/>
          <p:cNvPicPr>
            <a:picLocks noChangeAspect="1"/>
          </p:cNvPicPr>
          <p:nvPr/>
        </p:nvPicPr>
        <p:blipFill>
          <a:blip r:embed="rId2"/>
          <a:stretch>
            <a:fillRect/>
          </a:stretch>
        </p:blipFill>
        <p:spPr>
          <a:xfrm>
            <a:off x="2115054" y="1691640"/>
            <a:ext cx="7961586" cy="3429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RNA velocity stream</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Regenerated with velocyto: 19.1% of reads unspliced vs the authors' 19.3%.</a:t>
            </a:r>
          </a:p>
        </p:txBody>
      </p:sp>
      <p:pic>
        <p:nvPicPr>
          <p:cNvPr id="4" name="Picture 3" descr="scvelo_velocity_stream_age.png"/>
          <p:cNvPicPr>
            <a:picLocks noChangeAspect="1"/>
          </p:cNvPicPr>
          <p:nvPr/>
        </p:nvPicPr>
        <p:blipFill>
          <a:blip r:embed="rId2"/>
          <a:stretch>
            <a:fillRect/>
          </a:stretch>
        </p:blipFill>
        <p:spPr>
          <a:xfrm>
            <a:off x="3210067" y="1572768"/>
            <a:ext cx="5771560" cy="478231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CellRank macrostates, terminal and initial states</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velocity 0.8 + connectivity 0.2, the only weighting placing a root in E7.0.</a:t>
            </a:r>
          </a:p>
        </p:txBody>
      </p:sp>
      <p:sp>
        <p:nvSpPr>
          <p:cNvPr id="4" name="TextBox 3"/>
          <p:cNvSpPr txBox="1"/>
          <p:nvPr/>
        </p:nvSpPr>
        <p:spPr>
          <a:xfrm>
            <a:off x="640080" y="1572768"/>
            <a:ext cx="3541046"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12 macrostates</a:t>
            </a:r>
          </a:p>
        </p:txBody>
      </p:sp>
      <p:pic>
        <p:nvPicPr>
          <p:cNvPr id="5" name="Picture 4" descr="scvelo_vk0.8_ck0.2_macrostates.png"/>
          <p:cNvPicPr>
            <a:picLocks noChangeAspect="1"/>
          </p:cNvPicPr>
          <p:nvPr/>
        </p:nvPicPr>
        <p:blipFill>
          <a:blip r:embed="rId2"/>
          <a:stretch>
            <a:fillRect/>
          </a:stretch>
        </p:blipFill>
        <p:spPr>
          <a:xfrm>
            <a:off x="640080" y="1847088"/>
            <a:ext cx="3541045" cy="3136884"/>
          </a:xfrm>
          <a:prstGeom prst="rect">
            <a:avLst/>
          </a:prstGeom>
        </p:spPr>
      </p:pic>
      <p:sp>
        <p:nvSpPr>
          <p:cNvPr id="6" name="TextBox 5"/>
          <p:cNvSpPr txBox="1"/>
          <p:nvPr/>
        </p:nvSpPr>
        <p:spPr>
          <a:xfrm>
            <a:off x="4345718" y="1572768"/>
            <a:ext cx="3541046"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4 terminal states</a:t>
            </a:r>
          </a:p>
        </p:txBody>
      </p:sp>
      <p:pic>
        <p:nvPicPr>
          <p:cNvPr id="7" name="Picture 6" descr="scvelo_vk0.8_ck0.2_terminal.png"/>
          <p:cNvPicPr>
            <a:picLocks noChangeAspect="1"/>
          </p:cNvPicPr>
          <p:nvPr/>
        </p:nvPicPr>
        <p:blipFill>
          <a:blip r:embed="rId3"/>
          <a:stretch>
            <a:fillRect/>
          </a:stretch>
        </p:blipFill>
        <p:spPr>
          <a:xfrm>
            <a:off x="4345718" y="1847088"/>
            <a:ext cx="3541045" cy="3136884"/>
          </a:xfrm>
          <a:prstGeom prst="rect">
            <a:avLst/>
          </a:prstGeom>
        </p:spPr>
      </p:pic>
      <p:sp>
        <p:nvSpPr>
          <p:cNvPr id="8" name="TextBox 7"/>
          <p:cNvSpPr txBox="1"/>
          <p:nvPr/>
        </p:nvSpPr>
        <p:spPr>
          <a:xfrm>
            <a:off x="8051356" y="1572768"/>
            <a:ext cx="3500259"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initial state</a:t>
            </a:r>
          </a:p>
        </p:txBody>
      </p:sp>
      <p:pic>
        <p:nvPicPr>
          <p:cNvPr id="9" name="Picture 8" descr="scvelo_vk0.8_ck0.2_initial.png"/>
          <p:cNvPicPr>
            <a:picLocks noChangeAspect="1"/>
          </p:cNvPicPr>
          <p:nvPr/>
        </p:nvPicPr>
        <p:blipFill>
          <a:blip r:embed="rId4"/>
          <a:stretch>
            <a:fillRect/>
          </a:stretch>
        </p:blipFill>
        <p:spPr>
          <a:xfrm>
            <a:off x="8051356" y="1847088"/>
            <a:ext cx="3500258" cy="313688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Do the kernel weightings agree?</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Pairwise fate-probability correlation across the seven completed runs, 0.44 to 0.99.</a:t>
            </a:r>
          </a:p>
        </p:txBody>
      </p:sp>
      <p:pic>
        <p:nvPicPr>
          <p:cNvPr id="4" name="Picture 3" descr="kernel_agreement.png"/>
          <p:cNvPicPr>
            <a:picLocks noChangeAspect="1"/>
          </p:cNvPicPr>
          <p:nvPr/>
        </p:nvPicPr>
        <p:blipFill>
          <a:blip r:embed="rId2"/>
          <a:stretch>
            <a:fillRect/>
          </a:stretch>
        </p:blipFill>
        <p:spPr>
          <a:xfrm>
            <a:off x="3349464" y="1572768"/>
            <a:ext cx="5492766" cy="478231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66928"/>
          </a:xfrm>
          <a:prstGeom prst="rect">
            <a:avLst/>
          </a:prstGeom>
          <a:noFill/>
        </p:spPr>
        <p:txBody>
          <a:bodyPr wrap="square" lIns="0" rIns="0" tIns="0" bIns="0" anchor="t">
            <a:spAutoFit/>
          </a:bodyPr>
          <a:lstStyle/>
          <a:p>
            <a:pPr algn="l">
              <a:spcAft>
                <a:spcPts val="0"/>
              </a:spcAft>
            </a:pPr>
            <a:r>
              <a:rPr sz="2600" b="1" i="0">
                <a:solidFill>
                  <a:srgbClr val="1A1A1A"/>
                </a:solidFill>
                <a:latin typeface="Cambria"/>
              </a:rPr>
              <a:t>Optimal transport places no state in the early stages</a:t>
            </a:r>
          </a:p>
        </p:txBody>
      </p:sp>
      <p:sp>
        <p:nvSpPr>
          <p:cNvPr id="3" name="TextBox 2"/>
          <p:cNvSpPr txBox="1"/>
          <p:nvPr/>
        </p:nvSpPr>
        <p:spPr>
          <a:xfrm>
            <a:off x="640080" y="1152144"/>
            <a:ext cx="10911535" cy="310896"/>
          </a:xfrm>
          <a:prstGeom prst="rect">
            <a:avLst/>
          </a:prstGeom>
          <a:noFill/>
        </p:spPr>
        <p:txBody>
          <a:bodyPr wrap="square" lIns="0" rIns="0" tIns="0" bIns="0" anchor="t">
            <a:spAutoFit/>
          </a:bodyPr>
          <a:lstStyle/>
          <a:p>
            <a:pPr algn="l">
              <a:spcAft>
                <a:spcPts val="0"/>
              </a:spcAft>
            </a:pPr>
            <a:r>
              <a:rPr sz="1350" b="0" i="0">
                <a:solidFill>
                  <a:srgbClr val="6E6E6E"/>
                </a:solidFill>
                <a:latin typeface="Calibri"/>
              </a:rPr>
              <a:t>Neither run puts a macrostate in E7.0 — every state sits at E9.0 or later.</a:t>
            </a:r>
          </a:p>
        </p:txBody>
      </p:sp>
      <p:sp>
        <p:nvSpPr>
          <p:cNvPr id="4" name="TextBox 3"/>
          <p:cNvSpPr txBox="1"/>
          <p:nvPr/>
        </p:nvSpPr>
        <p:spPr>
          <a:xfrm>
            <a:off x="927746" y="1572768"/>
            <a:ext cx="5088808"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devbrain, moscot only</a:t>
            </a:r>
          </a:p>
        </p:txBody>
      </p:sp>
      <p:pic>
        <p:nvPicPr>
          <p:cNvPr id="5" name="Picture 4" descr="scvelo_realtime_moscot_macrostates.png"/>
          <p:cNvPicPr>
            <a:picLocks noChangeAspect="1"/>
          </p:cNvPicPr>
          <p:nvPr/>
        </p:nvPicPr>
        <p:blipFill>
          <a:blip r:embed="rId2"/>
          <a:stretch>
            <a:fillRect/>
          </a:stretch>
        </p:blipFill>
        <p:spPr>
          <a:xfrm>
            <a:off x="927746" y="1847088"/>
            <a:ext cx="5088809" cy="4507992"/>
          </a:xfrm>
          <a:prstGeom prst="rect">
            <a:avLst/>
          </a:prstGeom>
        </p:spPr>
      </p:pic>
      <p:sp>
        <p:nvSpPr>
          <p:cNvPr id="6" name="TextBox 5"/>
          <p:cNvSpPr txBox="1"/>
          <p:nvPr/>
        </p:nvSpPr>
        <p:spPr>
          <a:xfrm>
            <a:off x="6181147" y="1572768"/>
            <a:ext cx="5082800" cy="256032"/>
          </a:xfrm>
          <a:prstGeom prst="rect">
            <a:avLst/>
          </a:prstGeom>
          <a:noFill/>
        </p:spPr>
        <p:txBody>
          <a:bodyPr wrap="square" lIns="0" rIns="0" tIns="0" bIns="0" anchor="t">
            <a:spAutoFit/>
          </a:bodyPr>
          <a:lstStyle/>
          <a:p>
            <a:pPr algn="ctr">
              <a:spcAft>
                <a:spcPts val="0"/>
              </a:spcAft>
            </a:pPr>
            <a:r>
              <a:rPr sz="1200" b="1" i="0">
                <a:solidFill>
                  <a:srgbClr val="1A1A1A"/>
                </a:solidFill>
                <a:latin typeface="Calibri"/>
              </a:rPr>
              <a:t>joint, moscot + connectivity</a:t>
            </a:r>
          </a:p>
        </p:txBody>
      </p:sp>
      <p:pic>
        <p:nvPicPr>
          <p:cNvPr id="7" name="Picture 6" descr="scvelo_joint_rtk0.5_ck0.5_macrostates.png"/>
          <p:cNvPicPr>
            <a:picLocks noChangeAspect="1"/>
          </p:cNvPicPr>
          <p:nvPr/>
        </p:nvPicPr>
        <p:blipFill>
          <a:blip r:embed="rId3"/>
          <a:stretch>
            <a:fillRect/>
          </a:stretch>
        </p:blipFill>
        <p:spPr>
          <a:xfrm>
            <a:off x="6181147" y="1847088"/>
            <a:ext cx="5082801" cy="450799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828800" cy="1280160"/>
          </a:xfrm>
          <a:prstGeom prst="rect">
            <a:avLst/>
          </a:prstGeom>
          <a:noFill/>
        </p:spPr>
        <p:txBody>
          <a:bodyPr wrap="square" lIns="0" rIns="0" tIns="0" bIns="0" anchor="t">
            <a:spAutoFit/>
          </a:bodyPr>
          <a:lstStyle/>
          <a:p>
            <a:pPr algn="l">
              <a:spcAft>
                <a:spcPts val="0"/>
              </a:spcAft>
            </a:pPr>
            <a:r>
              <a:rPr sz="7800" b="1" i="0">
                <a:solidFill>
                  <a:srgbClr val="99000D"/>
                </a:solidFill>
                <a:latin typeface="Cambria"/>
              </a:rPr>
              <a:t>3</a:t>
            </a:r>
          </a:p>
        </p:txBody>
      </p:sp>
      <p:sp>
        <p:nvSpPr>
          <p:cNvPr id="4" name="TextBox 3"/>
          <p:cNvSpPr txBox="1"/>
          <p:nvPr/>
        </p:nvSpPr>
        <p:spPr>
          <a:xfrm>
            <a:off x="822960" y="3218688"/>
            <a:ext cx="10424160" cy="1097280"/>
          </a:xfrm>
          <a:prstGeom prst="rect">
            <a:avLst/>
          </a:prstGeom>
          <a:noFill/>
        </p:spPr>
        <p:txBody>
          <a:bodyPr wrap="square" lIns="0" rIns="0" tIns="0" bIns="0" anchor="t">
            <a:spAutoFit/>
          </a:bodyPr>
          <a:lstStyle/>
          <a:p>
            <a:pPr algn="l">
              <a:lnSpc>
                <a:spcPct val="112000"/>
              </a:lnSpc>
              <a:spcAft>
                <a:spcPts val="0"/>
              </a:spcAft>
            </a:pPr>
            <a:r>
              <a:rPr sz="3000" b="1" i="0">
                <a:solidFill>
                  <a:srgbClr val="FFFFFF"/>
                </a:solidFill>
                <a:latin typeface="Cambria"/>
              </a:rPr>
              <a:t>Assumptions and open problems</a:t>
            </a:r>
          </a:p>
        </p:txBody>
      </p:sp>
      <p:sp>
        <p:nvSpPr>
          <p:cNvPr id="5" name="TextBox 4"/>
          <p:cNvSpPr txBox="1"/>
          <p:nvPr/>
        </p:nvSpPr>
        <p:spPr>
          <a:xfrm>
            <a:off x="822960" y="4407408"/>
            <a:ext cx="9509760" cy="822960"/>
          </a:xfrm>
          <a:prstGeom prst="rect">
            <a:avLst/>
          </a:prstGeom>
          <a:noFill/>
        </p:spPr>
        <p:txBody>
          <a:bodyPr wrap="square" lIns="0" rIns="0" tIns="0" bIns="0" anchor="t">
            <a:spAutoFit/>
          </a:bodyPr>
          <a:lstStyle/>
          <a:p>
            <a:pPr algn="l">
              <a:lnSpc>
                <a:spcPct val="130000"/>
              </a:lnSpc>
              <a:spcAft>
                <a:spcPts val="0"/>
              </a:spcAft>
            </a:pPr>
            <a:r>
              <a:rPr sz="1500" b="0" i="0">
                <a:solidFill>
                  <a:srgbClr val="FCC9B4"/>
                </a:solidFill>
                <a:latin typeface="Calibri"/>
              </a:rPr>
              <a:t>What the analysis currently takes for granted, and where that could bite.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914400"/>
          </a:xfrm>
          <a:prstGeom prst="rect">
            <a:avLst/>
          </a:prstGeom>
          <a:noFill/>
        </p:spPr>
        <p:txBody>
          <a:bodyPr wrap="square" lIns="0" rIns="0" tIns="0" bIns="0" anchor="t">
            <a:spAutoFit/>
          </a:bodyPr>
          <a:lstStyle/>
          <a:p>
            <a:pPr algn="l">
              <a:lnSpc>
                <a:spcPct val="112000"/>
              </a:lnSpc>
              <a:spcAft>
                <a:spcPts val="600"/>
              </a:spcAft>
            </a:pPr>
            <a:r>
              <a:rPr sz="2600" b="1" i="0">
                <a:solidFill>
                  <a:srgbClr val="1A1A1A"/>
                </a:solidFill>
                <a:latin typeface="Cambria"/>
              </a:rPr>
              <a:t>What this analysis assumes</a:t>
            </a:r>
          </a:p>
        </p:txBody>
      </p:sp>
      <p:sp>
        <p:nvSpPr>
          <p:cNvPr id="3" name="TextBox 2"/>
          <p:cNvSpPr txBox="1"/>
          <p:nvPr/>
        </p:nvSpPr>
        <p:spPr>
          <a:xfrm>
            <a:off x="640080" y="1353312"/>
            <a:ext cx="10911535" cy="329184"/>
          </a:xfrm>
          <a:prstGeom prst="rect">
            <a:avLst/>
          </a:prstGeom>
          <a:noFill/>
        </p:spPr>
        <p:txBody>
          <a:bodyPr wrap="square" lIns="0" rIns="0" tIns="0" bIns="0" anchor="t">
            <a:spAutoFit/>
          </a:bodyPr>
          <a:lstStyle/>
          <a:p>
            <a:pPr algn="l">
              <a:spcAft>
                <a:spcPts val="600"/>
              </a:spcAft>
            </a:pPr>
            <a:r>
              <a:rPr sz="1350" b="0" i="1">
                <a:solidFill>
                  <a:srgbClr val="6E6E6E"/>
                </a:solidFill>
                <a:latin typeface="Calibri"/>
              </a:rPr>
              <a:t>Each of these is load-bearing — if one is wrong, the conclusions move</a:t>
            </a:r>
          </a:p>
        </p:txBody>
      </p:sp>
      <p:graphicFrame>
        <p:nvGraphicFramePr>
          <p:cNvPr id="4" name="Table 3"/>
          <p:cNvGraphicFramePr>
            <a:graphicFrameLocks noGrp="1"/>
          </p:cNvGraphicFramePr>
          <p:nvPr/>
        </p:nvGraphicFramePr>
        <p:xfrm>
          <a:off x="640080" y="1874519"/>
          <a:ext cx="10881360" cy="3950208"/>
        </p:xfrm>
        <a:graphic>
          <a:graphicData uri="http://schemas.openxmlformats.org/drawingml/2006/table">
            <a:tbl>
              <a:tblPr firstRow="1">
                <a:tableStyleId>{5C22544A-7EE6-4342-B048-85BDC9FD1C3A}</a:tableStyleId>
              </a:tblPr>
              <a:tblGrid>
                <a:gridCol w="4480560"/>
                <a:gridCol w="3291840"/>
                <a:gridCol w="3108960"/>
              </a:tblGrid>
              <a:tr h="384048">
                <a:tc>
                  <a:txBody>
                    <a:bodyPr wrap="square"/>
                    <a:lstStyle/>
                    <a:p>
                      <a:pPr algn="l"/>
                      <a:r>
                        <a:rPr sz="1150" b="1">
                          <a:solidFill>
                            <a:srgbClr val="FFFFFF"/>
                          </a:solidFill>
                          <a:latin typeface="Calibri"/>
                        </a:rPr>
                        <a:t>Assumption</a:t>
                      </a:r>
                    </a:p>
                  </a:txBody>
                  <a:tcPr marL="64008" marR="64008" marT="18288" marB="18288" anchor="ctr">
                    <a:solidFill>
                      <a:srgbClr val="1C1719"/>
                    </a:solidFill>
                  </a:tcPr>
                </a:tc>
                <a:tc>
                  <a:txBody>
                    <a:bodyPr wrap="square"/>
                    <a:lstStyle/>
                    <a:p>
                      <a:pPr algn="ctr"/>
                      <a:r>
                        <a:rPr sz="1150" b="1">
                          <a:solidFill>
                            <a:srgbClr val="FFFFFF"/>
                          </a:solidFill>
                          <a:latin typeface="Calibri"/>
                        </a:rPr>
                        <a:t>Why we need it</a:t>
                      </a:r>
                    </a:p>
                  </a:txBody>
                  <a:tcPr marL="64008" marR="64008" marT="18288" marB="18288" anchor="ctr">
                    <a:solidFill>
                      <a:srgbClr val="1C1719"/>
                    </a:solidFill>
                  </a:tcPr>
                </a:tc>
                <a:tc>
                  <a:txBody>
                    <a:bodyPr wrap="square"/>
                    <a:lstStyle/>
                    <a:p>
                      <a:pPr algn="ctr"/>
                      <a:r>
                        <a:rPr sz="1150" b="1">
                          <a:solidFill>
                            <a:srgbClr val="FFFFFF"/>
                          </a:solidFill>
                          <a:latin typeface="Calibri"/>
                        </a:rPr>
                        <a:t>How safe</a:t>
                      </a:r>
                    </a:p>
                  </a:txBody>
                  <a:tcPr marL="64008" marR="64008" marT="18288" marB="18288" anchor="ctr">
                    <a:solidFill>
                      <a:srgbClr val="1C1719"/>
                    </a:solidFill>
                  </a:tcPr>
                </a:tc>
              </a:tr>
              <a:tr h="713232">
                <a:tc>
                  <a:txBody>
                    <a:bodyPr wrap="square"/>
                    <a:lstStyle/>
                    <a:p>
                      <a:pPr algn="l"/>
                      <a:r>
                        <a:rPr sz="1200" b="0">
                          <a:solidFill>
                            <a:srgbClr val="1A1A1A"/>
                          </a:solidFill>
                          <a:latin typeface="Calibri"/>
                        </a:rPr>
                        <a:t>Harmony on dataset removes platform,
not biology</a:t>
                      </a:r>
                    </a:p>
                  </a:txBody>
                  <a:tcPr marL="64008" marR="64008" marT="18288" marB="18288" anchor="ctr">
                    <a:solidFill>
                      <a:srgbClr val="FFFFFF"/>
                    </a:solidFill>
                  </a:tcPr>
                </a:tc>
                <a:tc>
                  <a:txBody>
                    <a:bodyPr wrap="square"/>
                    <a:lstStyle/>
                    <a:p>
                      <a:pPr algn="ctr"/>
                      <a:r>
                        <a:rPr sz="1200" b="0">
                          <a:solidFill>
                            <a:srgbClr val="1A1A1A"/>
                          </a:solidFill>
                          <a:latin typeface="Calibri"/>
                        </a:rPr>
                        <a:t>Only way to put two chemistries
in one graph</a:t>
                      </a:r>
                    </a:p>
                  </a:txBody>
                  <a:tcPr marL="64008" marR="64008" marT="18288" marB="18288" anchor="ctr">
                    <a:solidFill>
                      <a:srgbClr val="FFFFFF"/>
                    </a:solidFill>
                  </a:tcPr>
                </a:tc>
                <a:tc>
                  <a:txBody>
                    <a:bodyPr wrap="square"/>
                    <a:lstStyle/>
                    <a:p>
                      <a:pPr algn="ctr"/>
                      <a:r>
                        <a:rPr sz="1200" b="1">
                          <a:solidFill>
                            <a:srgbClr val="1A1A1A"/>
                          </a:solidFill>
                          <a:latin typeface="Calibri"/>
                        </a:rPr>
                        <a:t>Weakest link</a:t>
                      </a:r>
                    </a:p>
                  </a:txBody>
                  <a:tcPr marL="64008" marR="64008" marT="18288" marB="18288" anchor="ctr">
                    <a:solidFill>
                      <a:srgbClr val="FCC9B4"/>
                    </a:solidFill>
                  </a:tcPr>
                </a:tc>
              </a:tr>
              <a:tr h="713232">
                <a:tc>
                  <a:txBody>
                    <a:bodyPr wrap="square"/>
                    <a:lstStyle/>
                    <a:p>
                      <a:pPr algn="l"/>
                      <a:r>
                        <a:rPr sz="1200" b="0">
                          <a:solidFill>
                            <a:srgbClr val="1A1A1A"/>
                          </a:solidFill>
                          <a:latin typeface="Calibri"/>
                        </a:rPr>
                        <a:t>Brooks E7.5 is a valid intermediate
between La Manno E7.0 and E8.0</a:t>
                      </a:r>
                    </a:p>
                  </a:txBody>
                  <a:tcPr marL="64008" marR="64008" marT="18288" marB="18288" anchor="ctr">
                    <a:solidFill>
                      <a:srgbClr val="F7F2F1"/>
                    </a:solidFill>
                  </a:tcPr>
                </a:tc>
                <a:tc>
                  <a:txBody>
                    <a:bodyPr wrap="square"/>
                    <a:lstStyle/>
                    <a:p>
                      <a:pPr algn="ctr"/>
                      <a:r>
                        <a:rPr sz="1200" b="0">
                          <a:solidFill>
                            <a:srgbClr val="1A1A1A"/>
                          </a:solidFill>
                          <a:latin typeface="Calibri"/>
                        </a:rPr>
                        <a:t>The bridge depends on it</a:t>
                      </a:r>
                    </a:p>
                  </a:txBody>
                  <a:tcPr marL="64008" marR="64008" marT="18288" marB="18288" anchor="ctr">
                    <a:solidFill>
                      <a:srgbClr val="F7F2F1"/>
                    </a:solidFill>
                  </a:tcPr>
                </a:tc>
                <a:tc>
                  <a:txBody>
                    <a:bodyPr wrap="square"/>
                    <a:lstStyle/>
                    <a:p>
                      <a:pPr algn="ctr"/>
                      <a:r>
                        <a:rPr sz="1200" b="1">
                          <a:solidFill>
                            <a:srgbClr val="1A1A1A"/>
                          </a:solidFill>
                          <a:latin typeface="Calibri"/>
                        </a:rPr>
                        <a:t>Untested</a:t>
                      </a:r>
                    </a:p>
                  </a:txBody>
                  <a:tcPr marL="64008" marR="64008" marT="18288" marB="18288" anchor="ctr">
                    <a:solidFill>
                      <a:srgbClr val="FCC9B4"/>
                    </a:solidFill>
                  </a:tcPr>
                </a:tc>
              </a:tr>
              <a:tr h="713232">
                <a:tc>
                  <a:txBody>
                    <a:bodyPr wrap="square"/>
                    <a:lstStyle/>
                    <a:p>
                      <a:pPr algn="l"/>
                      <a:r>
                        <a:rPr sz="1200" b="0">
                          <a:solidFill>
                            <a:srgbClr val="1A1A1A"/>
                          </a:solidFill>
                          <a:latin typeface="Calibri"/>
                        </a:rPr>
                        <a:t>Splicing ratios from our velocyto run
match the authors'</a:t>
                      </a:r>
                    </a:p>
                  </a:txBody>
                  <a:tcPr marL="64008" marR="64008" marT="18288" marB="18288" anchor="ctr">
                    <a:solidFill>
                      <a:srgbClr val="FFFFFF"/>
                    </a:solidFill>
                  </a:tcPr>
                </a:tc>
                <a:tc>
                  <a:txBody>
                    <a:bodyPr wrap="square"/>
                    <a:lstStyle/>
                    <a:p>
                      <a:pPr algn="ctr"/>
                      <a:r>
                        <a:rPr sz="1200" b="0">
                          <a:solidFill>
                            <a:srgbClr val="1A1A1A"/>
                          </a:solidFill>
                          <a:latin typeface="Calibri"/>
                        </a:rPr>
                        <a:t>Velocity kernel depends on it</a:t>
                      </a:r>
                    </a:p>
                  </a:txBody>
                  <a:tcPr marL="64008" marR="64008" marT="18288" marB="18288" anchor="ctr">
                    <a:solidFill>
                      <a:srgbClr val="FFFFFF"/>
                    </a:solidFill>
                  </a:tcPr>
                </a:tc>
                <a:tc>
                  <a:txBody>
                    <a:bodyPr wrap="square"/>
                    <a:lstStyle/>
                    <a:p>
                      <a:pPr algn="ctr"/>
                      <a:r>
                        <a:rPr sz="1200" b="0">
                          <a:solidFill>
                            <a:srgbClr val="1A1A1A"/>
                          </a:solidFill>
                          <a:latin typeface="Calibri"/>
                        </a:rPr>
                        <a:t>Checked: 19.1 vs 19.3%</a:t>
                      </a:r>
                    </a:p>
                  </a:txBody>
                  <a:tcPr marL="64008" marR="64008" marT="18288" marB="18288" anchor="ctr">
                    <a:solidFill>
                      <a:srgbClr val="FFFFFF"/>
                    </a:solidFill>
                  </a:tcPr>
                </a:tc>
              </a:tr>
              <a:tr h="713232">
                <a:tc>
                  <a:txBody>
                    <a:bodyPr wrap="square"/>
                    <a:lstStyle/>
                    <a:p>
                      <a:pPr algn="l"/>
                      <a:r>
                        <a:rPr sz="1200" b="0">
                          <a:solidFill>
                            <a:srgbClr val="1A1A1A"/>
                          </a:solidFill>
                          <a:latin typeface="Calibri"/>
                        </a:rPr>
                        <a:t>30-cell macrostate anchors represent
their surrounding region</a:t>
                      </a:r>
                    </a:p>
                  </a:txBody>
                  <a:tcPr marL="64008" marR="64008" marT="18288" marB="18288" anchor="ctr">
                    <a:solidFill>
                      <a:srgbClr val="F7F2F1"/>
                    </a:solidFill>
                  </a:tcPr>
                </a:tc>
                <a:tc>
                  <a:txBody>
                    <a:bodyPr wrap="square"/>
                    <a:lstStyle/>
                    <a:p>
                      <a:pPr algn="ctr"/>
                      <a:r>
                        <a:rPr sz="1200" b="0">
                          <a:solidFill>
                            <a:srgbClr val="1A1A1A"/>
                          </a:solidFill>
                          <a:latin typeface="Calibri"/>
                        </a:rPr>
                        <a:t>CellRank's default</a:t>
                      </a:r>
                    </a:p>
                  </a:txBody>
                  <a:tcPr marL="64008" marR="64008" marT="18288" marB="18288" anchor="ctr">
                    <a:solidFill>
                      <a:srgbClr val="F7F2F1"/>
                    </a:solidFill>
                  </a:tcPr>
                </a:tc>
                <a:tc>
                  <a:txBody>
                    <a:bodyPr wrap="square"/>
                    <a:lstStyle/>
                    <a:p>
                      <a:pPr algn="ctr"/>
                      <a:r>
                        <a:rPr sz="1200" b="1">
                          <a:solidFill>
                            <a:srgbClr val="1A1A1A"/>
                          </a:solidFill>
                          <a:latin typeface="Calibri"/>
                        </a:rPr>
                        <a:t>Unexamined</a:t>
                      </a:r>
                    </a:p>
                  </a:txBody>
                  <a:tcPr marL="64008" marR="64008" marT="18288" marB="18288" anchor="ctr">
                    <a:solidFill>
                      <a:srgbClr val="FCC9B4"/>
                    </a:solidFill>
                  </a:tcPr>
                </a:tc>
              </a:tr>
              <a:tr h="713232">
                <a:tc>
                  <a:txBody>
                    <a:bodyPr wrap="square"/>
                    <a:lstStyle/>
                    <a:p>
                      <a:pPr algn="l"/>
                      <a:r>
                        <a:rPr sz="1200" b="0">
                          <a:solidFill>
                            <a:srgbClr val="1A1A1A"/>
                          </a:solidFill>
                          <a:latin typeface="Calibri"/>
                        </a:rPr>
                        <a:t>Stage, not dissection, drives the
transitions we recover</a:t>
                      </a:r>
                    </a:p>
                  </a:txBody>
                  <a:tcPr marL="64008" marR="64008" marT="18288" marB="18288" anchor="ctr">
                    <a:solidFill>
                      <a:srgbClr val="FFFFFF"/>
                    </a:solidFill>
                  </a:tcPr>
                </a:tc>
                <a:tc>
                  <a:txBody>
                    <a:bodyPr wrap="square"/>
                    <a:lstStyle/>
                    <a:p>
                      <a:pPr algn="ctr"/>
                      <a:r>
                        <a:rPr sz="1200" b="0">
                          <a:solidFill>
                            <a:srgbClr val="1A1A1A"/>
                          </a:solidFill>
                          <a:latin typeface="Calibri"/>
                        </a:rPr>
                        <a:t>The whole trajectory reading</a:t>
                      </a:r>
                    </a:p>
                  </a:txBody>
                  <a:tcPr marL="64008" marR="64008" marT="18288" marB="18288" anchor="ctr">
                    <a:solidFill>
                      <a:srgbClr val="FFFFFF"/>
                    </a:solidFill>
                  </a:tcPr>
                </a:tc>
                <a:tc>
                  <a:txBody>
                    <a:bodyPr wrap="square"/>
                    <a:lstStyle/>
                    <a:p>
                      <a:pPr algn="ctr"/>
                      <a:r>
                        <a:rPr sz="1200" b="1">
                          <a:solidFill>
                            <a:srgbClr val="FFFFFF"/>
                          </a:solidFill>
                          <a:latin typeface="Calibri"/>
                        </a:rPr>
                        <a:t>Known to be false</a:t>
                      </a:r>
                    </a:p>
                  </a:txBody>
                  <a:tcPr marL="64008" marR="64008" marT="18288" marB="18288" anchor="ctr">
                    <a:solidFill>
                      <a:srgbClr val="99000D"/>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7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11535" cy="914400"/>
          </a:xfrm>
          <a:prstGeom prst="rect">
            <a:avLst/>
          </a:prstGeom>
          <a:noFill/>
        </p:spPr>
        <p:txBody>
          <a:bodyPr wrap="square" lIns="0" rIns="0" tIns="0" bIns="0" anchor="t">
            <a:spAutoFit/>
          </a:bodyPr>
          <a:lstStyle/>
          <a:p>
            <a:pPr algn="l">
              <a:lnSpc>
                <a:spcPct val="112000"/>
              </a:lnSpc>
              <a:spcAft>
                <a:spcPts val="600"/>
              </a:spcAft>
            </a:pPr>
            <a:r>
              <a:rPr sz="2600" b="1" i="0">
                <a:solidFill>
                  <a:srgbClr val="FFFFFF"/>
                </a:solidFill>
                <a:latin typeface="Cambria"/>
              </a:rPr>
              <a:t>Open problems, in the order they matter</a:t>
            </a:r>
          </a:p>
        </p:txBody>
      </p:sp>
      <p:sp>
        <p:nvSpPr>
          <p:cNvPr id="4" name="TextBox 3"/>
          <p:cNvSpPr txBox="1"/>
          <p:nvPr/>
        </p:nvSpPr>
        <p:spPr>
          <a:xfrm>
            <a:off x="640080" y="1353312"/>
            <a:ext cx="10911535" cy="329184"/>
          </a:xfrm>
          <a:prstGeom prst="rect">
            <a:avLst/>
          </a:prstGeom>
          <a:noFill/>
        </p:spPr>
        <p:txBody>
          <a:bodyPr wrap="square" lIns="0" rIns="0" tIns="0" bIns="0" anchor="t">
            <a:spAutoFit/>
          </a:bodyPr>
          <a:lstStyle/>
          <a:p>
            <a:pPr algn="l">
              <a:spcAft>
                <a:spcPts val="600"/>
              </a:spcAft>
            </a:pPr>
            <a:r>
              <a:rPr sz="1350" b="0" i="1">
                <a:solidFill>
                  <a:srgbClr val="9A9A9A"/>
                </a:solidFill>
                <a:latin typeface="Calibri"/>
              </a:rPr>
              <a:t>Three of the four are structural rather than bugs</a:t>
            </a:r>
          </a:p>
        </p:txBody>
      </p:sp>
      <p:sp>
        <p:nvSpPr>
          <p:cNvPr id="5" name="Rounded Rectangle 4"/>
          <p:cNvSpPr/>
          <p:nvPr/>
        </p:nvSpPr>
        <p:spPr>
          <a:xfrm>
            <a:off x="640080" y="1755648"/>
            <a:ext cx="10881360" cy="932688"/>
          </a:xfrm>
          <a:prstGeom prst="roundRect">
            <a:avLst>
              <a:gd name="adj" fmla="val 6000"/>
            </a:avLst>
          </a:prstGeom>
          <a:solidFill>
            <a:srgbClr val="2A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65376"/>
            <a:ext cx="411480" cy="411480"/>
          </a:xfrm>
          <a:prstGeom prst="rect">
            <a:avLst/>
          </a:prstGeom>
          <a:noFill/>
        </p:spPr>
        <p:txBody>
          <a:bodyPr wrap="square" lIns="0" rIns="0" tIns="0" bIns="0" anchor="t">
            <a:spAutoFit/>
          </a:bodyPr>
          <a:lstStyle/>
          <a:p>
            <a:pPr algn="l">
              <a:spcAft>
                <a:spcPts val="0"/>
              </a:spcAft>
            </a:pPr>
            <a:r>
              <a:rPr sz="2200" b="1" i="0">
                <a:solidFill>
                  <a:srgbClr val="E32F27"/>
                </a:solidFill>
                <a:latin typeface="Cambria"/>
              </a:rPr>
              <a:t>1</a:t>
            </a:r>
          </a:p>
        </p:txBody>
      </p:sp>
      <p:sp>
        <p:nvSpPr>
          <p:cNvPr id="7" name="TextBox 6"/>
          <p:cNvSpPr txBox="1"/>
          <p:nvPr/>
        </p:nvSpPr>
        <p:spPr>
          <a:xfrm>
            <a:off x="1371600" y="1856231"/>
            <a:ext cx="9966960" cy="274320"/>
          </a:xfrm>
          <a:prstGeom prst="rect">
            <a:avLst/>
          </a:prstGeom>
          <a:noFill/>
        </p:spPr>
        <p:txBody>
          <a:bodyPr wrap="square" lIns="0" rIns="0" tIns="0" bIns="0" anchor="t">
            <a:spAutoFit/>
          </a:bodyPr>
          <a:lstStyle/>
          <a:p>
            <a:pPr algn="l">
              <a:spcAft>
                <a:spcPts val="0"/>
              </a:spcAft>
            </a:pPr>
            <a:r>
              <a:rPr sz="1350" b="1" i="0">
                <a:solidFill>
                  <a:srgbClr val="FFFFFF"/>
                </a:solidFill>
                <a:latin typeface="Calibri"/>
              </a:rPr>
              <a:t>No metastable state at E7.0 under any transport kernel</a:t>
            </a:r>
          </a:p>
        </p:txBody>
      </p:sp>
      <p:sp>
        <p:nvSpPr>
          <p:cNvPr id="8" name="TextBox 7"/>
          <p:cNvSpPr txBox="1"/>
          <p:nvPr/>
        </p:nvSpPr>
        <p:spPr>
          <a:xfrm>
            <a:off x="1371600" y="2139696"/>
            <a:ext cx="9966960" cy="512064"/>
          </a:xfrm>
          <a:prstGeom prst="rect">
            <a:avLst/>
          </a:prstGeom>
          <a:noFill/>
        </p:spPr>
        <p:txBody>
          <a:bodyPr wrap="square" lIns="0" rIns="0" tIns="0" bIns="0" anchor="t">
            <a:spAutoFit/>
          </a:bodyPr>
          <a:lstStyle/>
          <a:p>
            <a:pPr algn="l">
              <a:lnSpc>
                <a:spcPct val="118000"/>
              </a:lnSpc>
              <a:spcAft>
                <a:spcPts val="0"/>
              </a:spcAft>
            </a:pPr>
            <a:r>
              <a:rPr sz="1050" b="0" i="0">
                <a:solidFill>
                  <a:srgbClr val="D0C9CB"/>
                </a:solidFill>
                <a:latin typeface="Calibri"/>
              </a:rPr>
              <a:t>Macrostates need stationary probability mass; a directed OT kernel gives early stages almost none, so they cannot be macrostates by construction. Root cell therefore unidentifiable.</a:t>
            </a:r>
          </a:p>
        </p:txBody>
      </p:sp>
      <p:sp>
        <p:nvSpPr>
          <p:cNvPr id="9" name="Rounded Rectangle 8"/>
          <p:cNvSpPr/>
          <p:nvPr/>
        </p:nvSpPr>
        <p:spPr>
          <a:xfrm>
            <a:off x="640080" y="2743200"/>
            <a:ext cx="10881360" cy="932688"/>
          </a:xfrm>
          <a:prstGeom prst="roundRect">
            <a:avLst>
              <a:gd name="adj" fmla="val 6000"/>
            </a:avLst>
          </a:prstGeom>
          <a:solidFill>
            <a:srgbClr val="2A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52928"/>
            <a:ext cx="411480" cy="411480"/>
          </a:xfrm>
          <a:prstGeom prst="rect">
            <a:avLst/>
          </a:prstGeom>
          <a:noFill/>
        </p:spPr>
        <p:txBody>
          <a:bodyPr wrap="square" lIns="0" rIns="0" tIns="0" bIns="0" anchor="t">
            <a:spAutoFit/>
          </a:bodyPr>
          <a:lstStyle/>
          <a:p>
            <a:pPr algn="l">
              <a:spcAft>
                <a:spcPts val="0"/>
              </a:spcAft>
            </a:pPr>
            <a:r>
              <a:rPr sz="2200" b="1" i="0">
                <a:solidFill>
                  <a:srgbClr val="E32F27"/>
                </a:solidFill>
                <a:latin typeface="Cambria"/>
              </a:rPr>
              <a:t>2</a:t>
            </a:r>
          </a:p>
        </p:txBody>
      </p:sp>
      <p:sp>
        <p:nvSpPr>
          <p:cNvPr id="11" name="TextBox 10"/>
          <p:cNvSpPr txBox="1"/>
          <p:nvPr/>
        </p:nvSpPr>
        <p:spPr>
          <a:xfrm>
            <a:off x="1371600" y="2843784"/>
            <a:ext cx="9966960" cy="274320"/>
          </a:xfrm>
          <a:prstGeom prst="rect">
            <a:avLst/>
          </a:prstGeom>
          <a:noFill/>
        </p:spPr>
        <p:txBody>
          <a:bodyPr wrap="square" lIns="0" rIns="0" tIns="0" bIns="0" anchor="t">
            <a:spAutoFit/>
          </a:bodyPr>
          <a:lstStyle/>
          <a:p>
            <a:pPr algn="l">
              <a:spcAft>
                <a:spcPts val="0"/>
              </a:spcAft>
            </a:pPr>
            <a:r>
              <a:rPr sz="1350" b="1" i="0">
                <a:solidFill>
                  <a:srgbClr val="FFFFFF"/>
                </a:solidFill>
                <a:latin typeface="Calibri"/>
              </a:rPr>
              <a:t>Stage and dissection are confounded, irreparably in this design</a:t>
            </a:r>
          </a:p>
        </p:txBody>
      </p:sp>
      <p:sp>
        <p:nvSpPr>
          <p:cNvPr id="12" name="TextBox 11"/>
          <p:cNvSpPr txBox="1"/>
          <p:nvPr/>
        </p:nvSpPr>
        <p:spPr>
          <a:xfrm>
            <a:off x="1371600" y="3127248"/>
            <a:ext cx="9966960" cy="512064"/>
          </a:xfrm>
          <a:prstGeom prst="rect">
            <a:avLst/>
          </a:prstGeom>
          <a:noFill/>
        </p:spPr>
        <p:txBody>
          <a:bodyPr wrap="square" lIns="0" rIns="0" tIns="0" bIns="0" anchor="t">
            <a:spAutoFit/>
          </a:bodyPr>
          <a:lstStyle/>
          <a:p>
            <a:pPr algn="l">
              <a:lnSpc>
                <a:spcPct val="118000"/>
              </a:lnSpc>
              <a:spcAft>
                <a:spcPts val="0"/>
              </a:spcAft>
            </a:pPr>
            <a:r>
              <a:rPr sz="1050" b="0" i="0">
                <a:solidFill>
                  <a:srgbClr val="D0C9CB"/>
                </a:solidFill>
                <a:latin typeface="Calibri"/>
              </a:rPr>
              <a:t>Matching region across stages scores 0.9576; matching stage across regions 0.9579. Every E7.0 macrostate is also 100% whole-embryo. No sample breaks the tie.</a:t>
            </a:r>
          </a:p>
        </p:txBody>
      </p:sp>
      <p:sp>
        <p:nvSpPr>
          <p:cNvPr id="13" name="Rounded Rectangle 12"/>
          <p:cNvSpPr/>
          <p:nvPr/>
        </p:nvSpPr>
        <p:spPr>
          <a:xfrm>
            <a:off x="640080" y="3730752"/>
            <a:ext cx="10881360" cy="932688"/>
          </a:xfrm>
          <a:prstGeom prst="roundRect">
            <a:avLst>
              <a:gd name="adj" fmla="val 6000"/>
            </a:avLst>
          </a:prstGeom>
          <a:solidFill>
            <a:srgbClr val="2A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840480"/>
            <a:ext cx="411480" cy="411480"/>
          </a:xfrm>
          <a:prstGeom prst="rect">
            <a:avLst/>
          </a:prstGeom>
          <a:noFill/>
        </p:spPr>
        <p:txBody>
          <a:bodyPr wrap="square" lIns="0" rIns="0" tIns="0" bIns="0" anchor="t">
            <a:spAutoFit/>
          </a:bodyPr>
          <a:lstStyle/>
          <a:p>
            <a:pPr algn="l">
              <a:spcAft>
                <a:spcPts val="0"/>
              </a:spcAft>
            </a:pPr>
            <a:r>
              <a:rPr sz="2200" b="1" i="0">
                <a:solidFill>
                  <a:srgbClr val="E32F27"/>
                </a:solidFill>
                <a:latin typeface="Cambria"/>
              </a:rPr>
              <a:t>3</a:t>
            </a:r>
          </a:p>
        </p:txBody>
      </p:sp>
      <p:sp>
        <p:nvSpPr>
          <p:cNvPr id="15" name="TextBox 14"/>
          <p:cNvSpPr txBox="1"/>
          <p:nvPr/>
        </p:nvSpPr>
        <p:spPr>
          <a:xfrm>
            <a:off x="1371600" y="3831336"/>
            <a:ext cx="9966960" cy="274320"/>
          </a:xfrm>
          <a:prstGeom prst="rect">
            <a:avLst/>
          </a:prstGeom>
          <a:noFill/>
        </p:spPr>
        <p:txBody>
          <a:bodyPr wrap="square" lIns="0" rIns="0" tIns="0" bIns="0" anchor="t">
            <a:spAutoFit/>
          </a:bodyPr>
          <a:lstStyle/>
          <a:p>
            <a:pPr algn="l">
              <a:spcAft>
                <a:spcPts val="0"/>
              </a:spcAft>
            </a:pPr>
            <a:r>
              <a:rPr sz="1350" b="1" i="0">
                <a:solidFill>
                  <a:srgbClr val="FFFFFF"/>
                </a:solidFill>
                <a:latin typeface="Calibri"/>
              </a:rPr>
              <a:t>Cross-platform integration may be removing real biology</a:t>
            </a:r>
          </a:p>
        </p:txBody>
      </p:sp>
      <p:sp>
        <p:nvSpPr>
          <p:cNvPr id="16" name="TextBox 15"/>
          <p:cNvSpPr txBox="1"/>
          <p:nvPr/>
        </p:nvSpPr>
        <p:spPr>
          <a:xfrm>
            <a:off x="1371600" y="4114800"/>
            <a:ext cx="9966960" cy="512064"/>
          </a:xfrm>
          <a:prstGeom prst="rect">
            <a:avLst/>
          </a:prstGeom>
          <a:noFill/>
        </p:spPr>
        <p:txBody>
          <a:bodyPr wrap="square" lIns="0" rIns="0" tIns="0" bIns="0" anchor="t">
            <a:spAutoFit/>
          </a:bodyPr>
          <a:lstStyle/>
          <a:p>
            <a:pPr algn="l">
              <a:lnSpc>
                <a:spcPct val="118000"/>
              </a:lnSpc>
              <a:spcAft>
                <a:spcPts val="0"/>
              </a:spcAft>
            </a:pPr>
            <a:r>
              <a:rPr sz="1050" b="0" i="0">
                <a:solidFill>
                  <a:srgbClr val="D0C9CB"/>
                </a:solidFill>
                <a:latin typeface="Calibri"/>
              </a:rPr>
              <a:t>Same-stage across datasets (Spearman 0.674) is less similar than three days of development within one dataset (0.870). Harmony cannot tell which part is chemistry.</a:t>
            </a:r>
          </a:p>
        </p:txBody>
      </p:sp>
      <p:sp>
        <p:nvSpPr>
          <p:cNvPr id="17" name="Rounded Rectangle 16"/>
          <p:cNvSpPr/>
          <p:nvPr/>
        </p:nvSpPr>
        <p:spPr>
          <a:xfrm>
            <a:off x="640080" y="4718304"/>
            <a:ext cx="10881360" cy="932688"/>
          </a:xfrm>
          <a:prstGeom prst="roundRect">
            <a:avLst>
              <a:gd name="adj" fmla="val 6000"/>
            </a:avLst>
          </a:prstGeom>
          <a:solidFill>
            <a:srgbClr val="2A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828032"/>
            <a:ext cx="411480" cy="411480"/>
          </a:xfrm>
          <a:prstGeom prst="rect">
            <a:avLst/>
          </a:prstGeom>
          <a:noFill/>
        </p:spPr>
        <p:txBody>
          <a:bodyPr wrap="square" lIns="0" rIns="0" tIns="0" bIns="0" anchor="t">
            <a:spAutoFit/>
          </a:bodyPr>
          <a:lstStyle/>
          <a:p>
            <a:pPr algn="l">
              <a:spcAft>
                <a:spcPts val="0"/>
              </a:spcAft>
            </a:pPr>
            <a:r>
              <a:rPr sz="2200" b="1" i="0">
                <a:solidFill>
                  <a:srgbClr val="E32F27"/>
                </a:solidFill>
                <a:latin typeface="Cambria"/>
              </a:rPr>
              <a:t>4</a:t>
            </a:r>
          </a:p>
        </p:txBody>
      </p:sp>
      <p:sp>
        <p:nvSpPr>
          <p:cNvPr id="19" name="TextBox 18"/>
          <p:cNvSpPr txBox="1"/>
          <p:nvPr/>
        </p:nvSpPr>
        <p:spPr>
          <a:xfrm>
            <a:off x="1371600" y="4818888"/>
            <a:ext cx="9966960" cy="274320"/>
          </a:xfrm>
          <a:prstGeom prst="rect">
            <a:avLst/>
          </a:prstGeom>
          <a:noFill/>
        </p:spPr>
        <p:txBody>
          <a:bodyPr wrap="square" lIns="0" rIns="0" tIns="0" bIns="0" anchor="t">
            <a:spAutoFit/>
          </a:bodyPr>
          <a:lstStyle/>
          <a:p>
            <a:pPr algn="l">
              <a:spcAft>
                <a:spcPts val="0"/>
              </a:spcAft>
            </a:pPr>
            <a:r>
              <a:rPr sz="1350" b="1" i="0">
                <a:solidFill>
                  <a:srgbClr val="FFFFFF"/>
                </a:solidFill>
                <a:latin typeface="Calibri"/>
              </a:rPr>
              <a:t>Velocity alone fails to solve, and is the least trustworthy kernel</a:t>
            </a:r>
          </a:p>
        </p:txBody>
      </p:sp>
      <p:sp>
        <p:nvSpPr>
          <p:cNvPr id="20" name="TextBox 19"/>
          <p:cNvSpPr txBox="1"/>
          <p:nvPr/>
        </p:nvSpPr>
        <p:spPr>
          <a:xfrm>
            <a:off x="1371600" y="5102352"/>
            <a:ext cx="9966960" cy="512064"/>
          </a:xfrm>
          <a:prstGeom prst="rect">
            <a:avLst/>
          </a:prstGeom>
          <a:noFill/>
        </p:spPr>
        <p:txBody>
          <a:bodyPr wrap="square" lIns="0" rIns="0" tIns="0" bIns="0" anchor="t">
            <a:spAutoFit/>
          </a:bodyPr>
          <a:lstStyle/>
          <a:p>
            <a:pPr algn="l">
              <a:lnSpc>
                <a:spcPct val="118000"/>
              </a:lnSpc>
              <a:spcAft>
                <a:spcPts val="0"/>
              </a:spcAft>
            </a:pPr>
            <a:r>
              <a:rPr sz="1050" b="0" i="0">
                <a:solidFill>
                  <a:srgbClr val="D0C9CB"/>
                </a:solidFill>
                <a:latin typeface="Calibri"/>
              </a:rPr>
              <a:t>60,762 of 68,166 rows did not sum to 1 — a solver failure, fixable. But 10x v1 chemistry and 3' bias make unspliced estimates weak here regardless.</a:t>
            </a:r>
          </a:p>
        </p:txBody>
      </p:sp>
      <p:sp>
        <p:nvSpPr>
          <p:cNvPr id="21" name="Rounded Rectangle 20"/>
          <p:cNvSpPr/>
          <p:nvPr/>
        </p:nvSpPr>
        <p:spPr>
          <a:xfrm>
            <a:off x="640080" y="5724144"/>
            <a:ext cx="10911535" cy="439166"/>
          </a:xfrm>
          <a:prstGeom prst="roundRect">
            <a:avLst>
              <a:gd name="adj" fmla="val 6000"/>
            </a:avLst>
          </a:prstGeom>
          <a:solidFill>
            <a:srgbClr val="9900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843016"/>
            <a:ext cx="10454335" cy="25628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Next: test a less absorbing transport kernel on a subsample before committing another eight-kernel 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