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Median 3,188 genes and 11,692 UMIs per cell. Mitochondrial fraction is under 1% everywhere, which is unusually clean. Filtering removed only 11 cells and 2,448 genes.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flatness is itself informative: the data is not dominated by one axis such as cell cycle or stage. It also means the kNN graph depends on many weak directions, which is part of why E7.0 separates so completely.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problem of the project. The graph has no path from E7.0 to the later stages, so a trajectory rooted there is unsupported by the graph it runs 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Quantified: library pairs matching region across different stages correlate 0.9576, and pairs matching stage across different regions 0.9579. Indistinguishable. One region is worth about one stage step.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Scanpy's default viridis puts its darkest end at zero, which on a mostly-zero matrix buries the expressing cells under the majority. These plots paint non-expressors flat grey and the brightest cells last.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Harmony removes variation shared between batches. With no chip spanning both ends, the mixing it produced cannot be a corrected batch effect — it was manufactured because the key asserted the clouds were the same batch. Rejected, and we went looking for a real bridge instead.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flat heatmap is the point. If pseudobulk correlation cannot tell E7.0-vs-E8.5 apart from E8.0-vs-E8.0, it is not measuring developmental distance - it is measuring the shared mean-expression axis. The ceiling from two random halves of one stage is 0.9999, so 0.95 is far from identical.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E7.0 to E7.5 neighbour share went from 0.05% to 8.75%, and to E7.75 from 0.03% to 3.33%. Critically, E7.0 to E9.0/E10.0 stayed at 0.01% - the bridge added intermediate stages rather than inventing a shortcut across three days.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published loom is no longer downloadable - the bucket 404s, and surviving mirrors either hold only pooled counts or exclude Gli1, Hhip and Shh. So it was rebuilt from the original BAMs.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Macrostate 21 is nominated as the root and is 100% E7.0 - but also 100% from the one whole-embryo dissection, so the two readings cannot be told apart.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figure was empty on the first attempt. All eight runs had raised and the loop caught each exception while printing only its message, so the matrix was 0x0 and imshow produced a blank panel with no error anywhere.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finding that matters. Moscot was added specifically to carry early cells forward. In the joint object nothing lands before E8.0, so E7.0, E7.5 and E7.75 - 26% of the cells - are entirely unrepresented, Brooks bridge notwithstanding.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notesSlide" Target="../notesSlides/notesSlide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1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notesSlide" Target="../notesSlides/notesSlide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7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965960"/>
            <a:ext cx="10515600" cy="1371600"/>
          </a:xfrm>
          <a:prstGeom prst="rect">
            <a:avLst/>
          </a:prstGeom>
          <a:noFill/>
        </p:spPr>
        <p:txBody>
          <a:bodyPr wrap="square" lIns="0" rIns="0" tIns="0" bIns="0" anchor="t">
            <a:spAutoFit/>
          </a:bodyPr>
          <a:lstStyle/>
          <a:p>
            <a:pPr algn="l">
              <a:lnSpc>
                <a:spcPct val="110000"/>
              </a:lnSpc>
              <a:spcAft>
                <a:spcPts val="600"/>
              </a:spcAft>
            </a:pPr>
            <a:r>
              <a:rPr sz="4000" b="1" i="0">
                <a:solidFill>
                  <a:srgbClr val="FFFFFF"/>
                </a:solidFill>
                <a:latin typeface="Cambria"/>
              </a:rPr>
              <a:t>Trajectory inference in the
E7.0–E10.0 mouse embryonic brain</a:t>
            </a:r>
          </a:p>
        </p:txBody>
      </p:sp>
      <p:sp>
        <p:nvSpPr>
          <p:cNvPr id="4" name="TextBox 3"/>
          <p:cNvSpPr txBox="1"/>
          <p:nvPr/>
        </p:nvSpPr>
        <p:spPr>
          <a:xfrm>
            <a:off x="822960" y="3520440"/>
            <a:ext cx="9692640" cy="365760"/>
          </a:xfrm>
          <a:prstGeom prst="rect">
            <a:avLst/>
          </a:prstGeom>
          <a:noFill/>
        </p:spPr>
        <p:txBody>
          <a:bodyPr wrap="square" lIns="0" rIns="0" tIns="0" bIns="0" anchor="t">
            <a:spAutoFit/>
          </a:bodyPr>
          <a:lstStyle/>
          <a:p>
            <a:pPr algn="l">
              <a:spcAft>
                <a:spcPts val="600"/>
              </a:spcAft>
            </a:pPr>
            <a:r>
              <a:rPr sz="1500" b="0" i="0">
                <a:solidFill>
                  <a:srgbClr val="FCC9B4"/>
                </a:solidFill>
                <a:latin typeface="Calibri"/>
              </a:rPr>
              <a:t>La Manno E7–E10, joint integration with Brooks 2025, preliminary CellRank</a:t>
            </a:r>
          </a:p>
        </p:txBody>
      </p:sp>
      <p:sp>
        <p:nvSpPr>
          <p:cNvPr id="5" name="TextBox 4"/>
          <p:cNvSpPr txBox="1"/>
          <p:nvPr/>
        </p:nvSpPr>
        <p:spPr>
          <a:xfrm>
            <a:off x="822960" y="4572000"/>
            <a:ext cx="3291840" cy="457200"/>
          </a:xfrm>
          <a:prstGeom prst="rect">
            <a:avLst/>
          </a:prstGeom>
          <a:noFill/>
        </p:spPr>
        <p:txBody>
          <a:bodyPr wrap="square" lIns="0" rIns="0" tIns="0" bIns="0" anchor="t">
            <a:spAutoFit/>
          </a:bodyPr>
          <a:lstStyle/>
          <a:p>
            <a:pPr algn="l">
              <a:spcAft>
                <a:spcPts val="0"/>
              </a:spcAft>
            </a:pPr>
            <a:r>
              <a:rPr sz="2600" b="1" i="0">
                <a:solidFill>
                  <a:srgbClr val="E32F27"/>
                </a:solidFill>
                <a:latin typeface="Cambria"/>
              </a:rPr>
              <a:t>68,166</a:t>
            </a:r>
          </a:p>
        </p:txBody>
      </p:sp>
      <p:sp>
        <p:nvSpPr>
          <p:cNvPr id="6" name="TextBox 5"/>
          <p:cNvSpPr txBox="1"/>
          <p:nvPr/>
        </p:nvSpPr>
        <p:spPr>
          <a:xfrm>
            <a:off x="822960" y="5074920"/>
            <a:ext cx="3291840" cy="274320"/>
          </a:xfrm>
          <a:prstGeom prst="rect">
            <a:avLst/>
          </a:prstGeom>
          <a:noFill/>
        </p:spPr>
        <p:txBody>
          <a:bodyPr wrap="square" lIns="0" rIns="0" tIns="0" bIns="0" anchor="t">
            <a:spAutoFit/>
          </a:bodyPr>
          <a:lstStyle/>
          <a:p>
            <a:pPr algn="l">
              <a:spcAft>
                <a:spcPts val="0"/>
              </a:spcAft>
            </a:pPr>
            <a:r>
              <a:rPr sz="1150" b="0" i="0">
                <a:solidFill>
                  <a:srgbClr val="9A9A9A"/>
                </a:solidFill>
                <a:latin typeface="Calibri"/>
              </a:rPr>
              <a:t>cells, 19 libraries</a:t>
            </a:r>
          </a:p>
        </p:txBody>
      </p:sp>
      <p:sp>
        <p:nvSpPr>
          <p:cNvPr id="7" name="TextBox 6"/>
          <p:cNvSpPr txBox="1"/>
          <p:nvPr/>
        </p:nvSpPr>
        <p:spPr>
          <a:xfrm>
            <a:off x="4389120" y="4572000"/>
            <a:ext cx="3291840" cy="457200"/>
          </a:xfrm>
          <a:prstGeom prst="rect">
            <a:avLst/>
          </a:prstGeom>
          <a:noFill/>
        </p:spPr>
        <p:txBody>
          <a:bodyPr wrap="square" lIns="0" rIns="0" tIns="0" bIns="0" anchor="t">
            <a:spAutoFit/>
          </a:bodyPr>
          <a:lstStyle/>
          <a:p>
            <a:pPr algn="l">
              <a:spcAft>
                <a:spcPts val="0"/>
              </a:spcAft>
            </a:pPr>
            <a:r>
              <a:rPr sz="2600" b="1" i="0">
                <a:solidFill>
                  <a:srgbClr val="E32F27"/>
                </a:solidFill>
                <a:latin typeface="Cambria"/>
              </a:rPr>
              <a:t>107,629</a:t>
            </a:r>
          </a:p>
        </p:txBody>
      </p:sp>
      <p:sp>
        <p:nvSpPr>
          <p:cNvPr id="8" name="TextBox 7"/>
          <p:cNvSpPr txBox="1"/>
          <p:nvPr/>
        </p:nvSpPr>
        <p:spPr>
          <a:xfrm>
            <a:off x="4389120" y="5074920"/>
            <a:ext cx="3291840" cy="274320"/>
          </a:xfrm>
          <a:prstGeom prst="rect">
            <a:avLst/>
          </a:prstGeom>
          <a:noFill/>
        </p:spPr>
        <p:txBody>
          <a:bodyPr wrap="square" lIns="0" rIns="0" tIns="0" bIns="0" anchor="t">
            <a:spAutoFit/>
          </a:bodyPr>
          <a:lstStyle/>
          <a:p>
            <a:pPr algn="l">
              <a:spcAft>
                <a:spcPts val="0"/>
              </a:spcAft>
            </a:pPr>
            <a:r>
              <a:rPr sz="1150" b="0" i="0">
                <a:solidFill>
                  <a:srgbClr val="9A9A9A"/>
                </a:solidFill>
                <a:latin typeface="Calibri"/>
              </a:rPr>
              <a:t>cells once Brooks is joined</a:t>
            </a:r>
          </a:p>
        </p:txBody>
      </p:sp>
      <p:sp>
        <p:nvSpPr>
          <p:cNvPr id="9" name="TextBox 8"/>
          <p:cNvSpPr txBox="1"/>
          <p:nvPr/>
        </p:nvSpPr>
        <p:spPr>
          <a:xfrm>
            <a:off x="7955279" y="4572000"/>
            <a:ext cx="3291840" cy="457200"/>
          </a:xfrm>
          <a:prstGeom prst="rect">
            <a:avLst/>
          </a:prstGeom>
          <a:noFill/>
        </p:spPr>
        <p:txBody>
          <a:bodyPr wrap="square" lIns="0" rIns="0" tIns="0" bIns="0" anchor="t">
            <a:spAutoFit/>
          </a:bodyPr>
          <a:lstStyle/>
          <a:p>
            <a:pPr algn="l">
              <a:spcAft>
                <a:spcPts val="0"/>
              </a:spcAft>
            </a:pPr>
            <a:r>
              <a:rPr sz="2600" b="1" i="0">
                <a:solidFill>
                  <a:srgbClr val="E32F27"/>
                </a:solidFill>
                <a:latin typeface="Cambria"/>
              </a:rPr>
              <a:t>8</a:t>
            </a:r>
          </a:p>
        </p:txBody>
      </p:sp>
      <p:sp>
        <p:nvSpPr>
          <p:cNvPr id="10" name="TextBox 9"/>
          <p:cNvSpPr txBox="1"/>
          <p:nvPr/>
        </p:nvSpPr>
        <p:spPr>
          <a:xfrm>
            <a:off x="7955279" y="5074920"/>
            <a:ext cx="3291840" cy="274320"/>
          </a:xfrm>
          <a:prstGeom prst="rect">
            <a:avLst/>
          </a:prstGeom>
          <a:noFill/>
        </p:spPr>
        <p:txBody>
          <a:bodyPr wrap="square" lIns="0" rIns="0" tIns="0" bIns="0" anchor="t">
            <a:spAutoFit/>
          </a:bodyPr>
          <a:lstStyle/>
          <a:p>
            <a:pPr algn="l">
              <a:spcAft>
                <a:spcPts val="0"/>
              </a:spcAft>
            </a:pPr>
            <a:r>
              <a:rPr sz="1150" b="0" i="0">
                <a:solidFill>
                  <a:srgbClr val="9A9A9A"/>
                </a:solidFill>
                <a:latin typeface="Calibri"/>
              </a:rPr>
              <a:t>CellRank kernel weightings</a:t>
            </a:r>
          </a:p>
        </p:txBody>
      </p:sp>
      <p:sp>
        <p:nvSpPr>
          <p:cNvPr id="11" name="TextBox 10"/>
          <p:cNvSpPr txBox="1"/>
          <p:nvPr/>
        </p:nvSpPr>
        <p:spPr>
          <a:xfrm>
            <a:off x="822960" y="5989320"/>
            <a:ext cx="10515600" cy="274320"/>
          </a:xfrm>
          <a:prstGeom prst="rect">
            <a:avLst/>
          </a:prstGeom>
          <a:noFill/>
        </p:spPr>
        <p:txBody>
          <a:bodyPr wrap="square" lIns="0" rIns="0" tIns="0" bIns="0" anchor="t">
            <a:spAutoFit/>
          </a:bodyPr>
          <a:lstStyle/>
          <a:p>
            <a:pPr algn="l">
              <a:spcAft>
                <a:spcPts val="0"/>
              </a:spcAft>
            </a:pPr>
            <a:r>
              <a:rPr sz="1100" b="0" i="0">
                <a:solidFill>
                  <a:srgbClr val="6E6E6E"/>
                </a:solidFill>
                <a:latin typeface="Calibri"/>
              </a:rPr>
              <a:t>Yubin  ·  Moskowitz Lab  ·  30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7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965960"/>
            <a:ext cx="1828800" cy="1280160"/>
          </a:xfrm>
          <a:prstGeom prst="rect">
            <a:avLst/>
          </a:prstGeom>
          <a:noFill/>
        </p:spPr>
        <p:txBody>
          <a:bodyPr wrap="square" lIns="0" rIns="0" tIns="0" bIns="0" anchor="t">
            <a:spAutoFit/>
          </a:bodyPr>
          <a:lstStyle/>
          <a:p>
            <a:pPr algn="l">
              <a:spcAft>
                <a:spcPts val="0"/>
              </a:spcAft>
            </a:pPr>
            <a:r>
              <a:rPr sz="7800" b="1" i="0">
                <a:solidFill>
                  <a:srgbClr val="99000D"/>
                </a:solidFill>
                <a:latin typeface="Cambria"/>
              </a:rPr>
              <a:t>1</a:t>
            </a:r>
          </a:p>
        </p:txBody>
      </p:sp>
      <p:sp>
        <p:nvSpPr>
          <p:cNvPr id="4" name="TextBox 3"/>
          <p:cNvSpPr txBox="1"/>
          <p:nvPr/>
        </p:nvSpPr>
        <p:spPr>
          <a:xfrm>
            <a:off x="822960" y="3218688"/>
            <a:ext cx="10424160" cy="1097280"/>
          </a:xfrm>
          <a:prstGeom prst="rect">
            <a:avLst/>
          </a:prstGeom>
          <a:noFill/>
        </p:spPr>
        <p:txBody>
          <a:bodyPr wrap="square" lIns="0" rIns="0" tIns="0" bIns="0" anchor="t">
            <a:spAutoFit/>
          </a:bodyPr>
          <a:lstStyle/>
          <a:p>
            <a:pPr algn="l">
              <a:lnSpc>
                <a:spcPct val="112000"/>
              </a:lnSpc>
              <a:spcAft>
                <a:spcPts val="0"/>
              </a:spcAft>
            </a:pPr>
            <a:r>
              <a:rPr sz="3000" b="1" i="0">
                <a:solidFill>
                  <a:srgbClr val="FFFFFF"/>
                </a:solidFill>
                <a:latin typeface="Cambria"/>
              </a:rPr>
              <a:t>The La Manno dataset on its own</a:t>
            </a:r>
          </a:p>
        </p:txBody>
      </p:sp>
      <p:sp>
        <p:nvSpPr>
          <p:cNvPr id="5" name="TextBox 4"/>
          <p:cNvSpPr txBox="1"/>
          <p:nvPr/>
        </p:nvSpPr>
        <p:spPr>
          <a:xfrm>
            <a:off x="822960" y="4407408"/>
            <a:ext cx="9509760" cy="822960"/>
          </a:xfrm>
          <a:prstGeom prst="rect">
            <a:avLst/>
          </a:prstGeom>
          <a:noFill/>
        </p:spPr>
        <p:txBody>
          <a:bodyPr wrap="square" lIns="0" rIns="0" tIns="0" bIns="0" anchor="t">
            <a:spAutoFit/>
          </a:bodyPr>
          <a:lstStyle/>
          <a:p>
            <a:pPr algn="l">
              <a:lnSpc>
                <a:spcPct val="130000"/>
              </a:lnSpc>
              <a:spcAft>
                <a:spcPts val="0"/>
              </a:spcAft>
            </a:pPr>
            <a:r>
              <a:rPr sz="1500" b="0" i="0">
                <a:solidFill>
                  <a:srgbClr val="FCC9B4"/>
                </a:solidFill>
                <a:latin typeface="Calibri"/>
              </a:rPr>
              <a:t>Quality control, feature selection, PCA, UMAP and hedgehog expression — before any integration.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11535" cy="566928"/>
          </a:xfrm>
          <a:prstGeom prst="rect">
            <a:avLst/>
          </a:prstGeom>
          <a:noFill/>
        </p:spPr>
        <p:txBody>
          <a:bodyPr wrap="square" lIns="0" rIns="0" tIns="0" bIns="0" anchor="t">
            <a:spAutoFit/>
          </a:bodyPr>
          <a:lstStyle/>
          <a:p>
            <a:pPr algn="l">
              <a:spcAft>
                <a:spcPts val="0"/>
              </a:spcAft>
            </a:pPr>
            <a:r>
              <a:rPr sz="2600" b="1" i="0">
                <a:solidFill>
                  <a:srgbClr val="1A1A1A"/>
                </a:solidFill>
                <a:latin typeface="Cambria"/>
              </a:rPr>
              <a:t>Quality control by stage</a:t>
            </a:r>
          </a:p>
        </p:txBody>
      </p:sp>
      <p:sp>
        <p:nvSpPr>
          <p:cNvPr id="3" name="TextBox 2"/>
          <p:cNvSpPr txBox="1"/>
          <p:nvPr/>
        </p:nvSpPr>
        <p:spPr>
          <a:xfrm>
            <a:off x="640080" y="1152144"/>
            <a:ext cx="10911535" cy="310896"/>
          </a:xfrm>
          <a:prstGeom prst="rect">
            <a:avLst/>
          </a:prstGeom>
          <a:noFill/>
        </p:spPr>
        <p:txBody>
          <a:bodyPr wrap="square" lIns="0" rIns="0" tIns="0" bIns="0" anchor="t">
            <a:spAutoFit/>
          </a:bodyPr>
          <a:lstStyle/>
          <a:p>
            <a:pPr algn="l">
              <a:spcAft>
                <a:spcPts val="0"/>
              </a:spcAft>
            </a:pPr>
            <a:r>
              <a:rPr sz="1350" b="0" i="0">
                <a:solidFill>
                  <a:srgbClr val="6E6E6E"/>
                </a:solidFill>
                <a:latin typeface="Calibri"/>
              </a:rPr>
              <a:t>Comparable across all five stages — no stage needed special handling.</a:t>
            </a:r>
          </a:p>
        </p:txBody>
      </p:sp>
      <p:pic>
        <p:nvPicPr>
          <p:cNvPr id="4" name="Picture 3" descr="violin_qc_by_age.png"/>
          <p:cNvPicPr>
            <a:picLocks noChangeAspect="1"/>
          </p:cNvPicPr>
          <p:nvPr/>
        </p:nvPicPr>
        <p:blipFill>
          <a:blip r:embed="rId2"/>
          <a:stretch>
            <a:fillRect/>
          </a:stretch>
        </p:blipFill>
        <p:spPr>
          <a:xfrm>
            <a:off x="640080" y="2296332"/>
            <a:ext cx="10911535" cy="3335183"/>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11535" cy="566928"/>
          </a:xfrm>
          <a:prstGeom prst="rect">
            <a:avLst/>
          </a:prstGeom>
          <a:noFill/>
        </p:spPr>
        <p:txBody>
          <a:bodyPr wrap="square" lIns="0" rIns="0" tIns="0" bIns="0" anchor="t">
            <a:spAutoFit/>
          </a:bodyPr>
          <a:lstStyle/>
          <a:p>
            <a:pPr algn="l">
              <a:spcAft>
                <a:spcPts val="0"/>
              </a:spcAft>
            </a:pPr>
            <a:r>
              <a:rPr sz="2600" b="1" i="0">
                <a:solidFill>
                  <a:srgbClr val="1A1A1A"/>
                </a:solidFill>
                <a:latin typeface="Cambria"/>
              </a:rPr>
              <a:t>Quality metrics on the UMAP</a:t>
            </a:r>
          </a:p>
        </p:txBody>
      </p:sp>
      <p:sp>
        <p:nvSpPr>
          <p:cNvPr id="3" name="TextBox 2"/>
          <p:cNvSpPr txBox="1"/>
          <p:nvPr/>
        </p:nvSpPr>
        <p:spPr>
          <a:xfrm>
            <a:off x="640080" y="1152144"/>
            <a:ext cx="10911535" cy="310896"/>
          </a:xfrm>
          <a:prstGeom prst="rect">
            <a:avLst/>
          </a:prstGeom>
          <a:noFill/>
        </p:spPr>
        <p:txBody>
          <a:bodyPr wrap="square" lIns="0" rIns="0" tIns="0" bIns="0" anchor="t">
            <a:spAutoFit/>
          </a:bodyPr>
          <a:lstStyle/>
          <a:p>
            <a:pPr algn="l">
              <a:spcAft>
                <a:spcPts val="0"/>
              </a:spcAft>
            </a:pPr>
            <a:r>
              <a:rPr sz="1350" b="0" i="0">
                <a:solidFill>
                  <a:srgbClr val="6E6E6E"/>
                </a:solidFill>
                <a:latin typeface="Calibri"/>
              </a:rPr>
              <a:t>No cluster is defined by depth or mitochondrial content — structure is not an artifact.</a:t>
            </a:r>
          </a:p>
        </p:txBody>
      </p:sp>
      <p:pic>
        <p:nvPicPr>
          <p:cNvPr id="4" name="Picture 3" descr="umap_qc.png"/>
          <p:cNvPicPr>
            <a:picLocks noChangeAspect="1"/>
          </p:cNvPicPr>
          <p:nvPr/>
        </p:nvPicPr>
        <p:blipFill>
          <a:blip r:embed="rId2"/>
          <a:stretch>
            <a:fillRect/>
          </a:stretch>
        </p:blipFill>
        <p:spPr>
          <a:xfrm>
            <a:off x="640080" y="2274730"/>
            <a:ext cx="10911535" cy="3378386"/>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11535" cy="566928"/>
          </a:xfrm>
          <a:prstGeom prst="rect">
            <a:avLst/>
          </a:prstGeom>
          <a:noFill/>
        </p:spPr>
        <p:txBody>
          <a:bodyPr wrap="square" lIns="0" rIns="0" tIns="0" bIns="0" anchor="t">
            <a:spAutoFit/>
          </a:bodyPr>
          <a:lstStyle/>
          <a:p>
            <a:pPr algn="l">
              <a:spcAft>
                <a:spcPts val="0"/>
              </a:spcAft>
            </a:pPr>
            <a:r>
              <a:rPr sz="2600" b="1" i="0">
                <a:solidFill>
                  <a:srgbClr val="1A1A1A"/>
                </a:solidFill>
                <a:latin typeface="Cambria"/>
              </a:rPr>
              <a:t>Highly variable gene selection</a:t>
            </a:r>
          </a:p>
        </p:txBody>
      </p:sp>
      <p:sp>
        <p:nvSpPr>
          <p:cNvPr id="3" name="TextBox 2"/>
          <p:cNvSpPr txBox="1"/>
          <p:nvPr/>
        </p:nvSpPr>
        <p:spPr>
          <a:xfrm>
            <a:off x="640080" y="1152144"/>
            <a:ext cx="10911535" cy="310896"/>
          </a:xfrm>
          <a:prstGeom prst="rect">
            <a:avLst/>
          </a:prstGeom>
          <a:noFill/>
        </p:spPr>
        <p:txBody>
          <a:bodyPr wrap="square" lIns="0" rIns="0" tIns="0" bIns="0" anchor="t">
            <a:spAutoFit/>
          </a:bodyPr>
          <a:lstStyle/>
          <a:p>
            <a:pPr algn="l">
              <a:spcAft>
                <a:spcPts val="0"/>
              </a:spcAft>
            </a:pPr>
            <a:r>
              <a:rPr sz="1350" b="0" i="0">
                <a:solidFill>
                  <a:srgbClr val="6E6E6E"/>
                </a:solidFill>
                <a:latin typeface="Calibri"/>
              </a:rPr>
              <a:t>2,000 genes per batch; hedgehog genes retained explicitly, being too sparse to survive.</a:t>
            </a:r>
          </a:p>
        </p:txBody>
      </p:sp>
      <p:pic>
        <p:nvPicPr>
          <p:cNvPr id="4" name="Picture 3" descr="filter_genes_dispersion_hvg.png"/>
          <p:cNvPicPr>
            <a:picLocks noChangeAspect="1"/>
          </p:cNvPicPr>
          <p:nvPr/>
        </p:nvPicPr>
        <p:blipFill>
          <a:blip r:embed="rId2"/>
          <a:stretch>
            <a:fillRect/>
          </a:stretch>
        </p:blipFill>
        <p:spPr>
          <a:xfrm>
            <a:off x="1563161" y="1572768"/>
            <a:ext cx="9065371" cy="4782312"/>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11535" cy="566928"/>
          </a:xfrm>
          <a:prstGeom prst="rect">
            <a:avLst/>
          </a:prstGeom>
          <a:noFill/>
        </p:spPr>
        <p:txBody>
          <a:bodyPr wrap="square" lIns="0" rIns="0" tIns="0" bIns="0" anchor="t">
            <a:spAutoFit/>
          </a:bodyPr>
          <a:lstStyle/>
          <a:p>
            <a:pPr algn="l">
              <a:spcAft>
                <a:spcPts val="0"/>
              </a:spcAft>
            </a:pPr>
            <a:r>
              <a:rPr sz="2600" b="1" i="0">
                <a:solidFill>
                  <a:srgbClr val="1A1A1A"/>
                </a:solidFill>
                <a:latin typeface="Cambria"/>
              </a:rPr>
              <a:t>PCA variance is spread thin</a:t>
            </a:r>
          </a:p>
        </p:txBody>
      </p:sp>
      <p:sp>
        <p:nvSpPr>
          <p:cNvPr id="3" name="TextBox 2"/>
          <p:cNvSpPr txBox="1"/>
          <p:nvPr/>
        </p:nvSpPr>
        <p:spPr>
          <a:xfrm>
            <a:off x="640080" y="1152144"/>
            <a:ext cx="10911535" cy="310896"/>
          </a:xfrm>
          <a:prstGeom prst="rect">
            <a:avLst/>
          </a:prstGeom>
          <a:noFill/>
        </p:spPr>
        <p:txBody>
          <a:bodyPr wrap="square" lIns="0" rIns="0" tIns="0" bIns="0" anchor="t">
            <a:spAutoFit/>
          </a:bodyPr>
          <a:lstStyle/>
          <a:p>
            <a:pPr algn="l">
              <a:spcAft>
                <a:spcPts val="0"/>
              </a:spcAft>
            </a:pPr>
            <a:r>
              <a:rPr sz="1350" b="0" i="0">
                <a:solidFill>
                  <a:srgbClr val="6E6E6E"/>
                </a:solidFill>
                <a:latin typeface="Calibri"/>
              </a:rPr>
              <a:t>No dominant component — PC1 carries a few percent, so 50 PCs feed the graph.</a:t>
            </a:r>
          </a:p>
        </p:txBody>
      </p:sp>
      <p:pic>
        <p:nvPicPr>
          <p:cNvPr id="4" name="Picture 3" descr="pca_scree.png"/>
          <p:cNvPicPr>
            <a:picLocks noChangeAspect="1"/>
          </p:cNvPicPr>
          <p:nvPr/>
        </p:nvPicPr>
        <p:blipFill>
          <a:blip r:embed="rId2"/>
          <a:stretch>
            <a:fillRect/>
          </a:stretch>
        </p:blipFill>
        <p:spPr>
          <a:xfrm>
            <a:off x="640080" y="1954703"/>
            <a:ext cx="10911535" cy="4018441"/>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11535" cy="566928"/>
          </a:xfrm>
          <a:prstGeom prst="rect">
            <a:avLst/>
          </a:prstGeom>
          <a:noFill/>
        </p:spPr>
        <p:txBody>
          <a:bodyPr wrap="square" lIns="0" rIns="0" tIns="0" bIns="0" anchor="t">
            <a:spAutoFit/>
          </a:bodyPr>
          <a:lstStyle/>
          <a:p>
            <a:pPr algn="l">
              <a:spcAft>
                <a:spcPts val="0"/>
              </a:spcAft>
            </a:pPr>
            <a:r>
              <a:rPr sz="2600" b="1" i="0">
                <a:solidFill>
                  <a:srgbClr val="1A1A1A"/>
                </a:solidFill>
                <a:latin typeface="Cambria"/>
              </a:rPr>
              <a:t>PCA by stage and by sample</a:t>
            </a:r>
          </a:p>
        </p:txBody>
      </p:sp>
      <p:sp>
        <p:nvSpPr>
          <p:cNvPr id="3" name="TextBox 2"/>
          <p:cNvSpPr txBox="1"/>
          <p:nvPr/>
        </p:nvSpPr>
        <p:spPr>
          <a:xfrm>
            <a:off x="640080" y="1152144"/>
            <a:ext cx="10911535" cy="310896"/>
          </a:xfrm>
          <a:prstGeom prst="rect">
            <a:avLst/>
          </a:prstGeom>
          <a:noFill/>
        </p:spPr>
        <p:txBody>
          <a:bodyPr wrap="square" lIns="0" rIns="0" tIns="0" bIns="0" anchor="t">
            <a:spAutoFit/>
          </a:bodyPr>
          <a:lstStyle/>
          <a:p>
            <a:pPr algn="l">
              <a:spcAft>
                <a:spcPts val="0"/>
              </a:spcAft>
            </a:pPr>
            <a:r>
              <a:rPr sz="1350" b="0" i="0">
                <a:solidFill>
                  <a:srgbClr val="6E6E6E"/>
                </a:solidFill>
                <a:latin typeface="Calibri"/>
              </a:rPr>
              <a:t>Stage separates on the leading components; E7.0 sits apart already in PCA space.</a:t>
            </a:r>
          </a:p>
        </p:txBody>
      </p:sp>
      <p:pic>
        <p:nvPicPr>
          <p:cNvPr id="4" name="Picture 3" descr="pca_age_sample.png"/>
          <p:cNvPicPr>
            <a:picLocks noChangeAspect="1"/>
          </p:cNvPicPr>
          <p:nvPr/>
        </p:nvPicPr>
        <p:blipFill>
          <a:blip r:embed="rId2"/>
          <a:stretch>
            <a:fillRect/>
          </a:stretch>
        </p:blipFill>
        <p:spPr>
          <a:xfrm>
            <a:off x="640080" y="2374360"/>
            <a:ext cx="10911535" cy="3179127"/>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11535" cy="566928"/>
          </a:xfrm>
          <a:prstGeom prst="rect">
            <a:avLst/>
          </a:prstGeom>
          <a:noFill/>
        </p:spPr>
        <p:txBody>
          <a:bodyPr wrap="square" lIns="0" rIns="0" tIns="0" bIns="0" anchor="t">
            <a:spAutoFit/>
          </a:bodyPr>
          <a:lstStyle/>
          <a:p>
            <a:pPr algn="l">
              <a:spcAft>
                <a:spcPts val="0"/>
              </a:spcAft>
            </a:pPr>
            <a:r>
              <a:rPr sz="2600" b="1" i="0">
                <a:solidFill>
                  <a:srgbClr val="1A1A1A"/>
                </a:solidFill>
                <a:latin typeface="Cambria"/>
              </a:rPr>
              <a:t>Unintegrated UMAP</a:t>
            </a:r>
          </a:p>
        </p:txBody>
      </p:sp>
      <p:sp>
        <p:nvSpPr>
          <p:cNvPr id="3" name="TextBox 2"/>
          <p:cNvSpPr txBox="1"/>
          <p:nvPr/>
        </p:nvSpPr>
        <p:spPr>
          <a:xfrm>
            <a:off x="640080" y="1152144"/>
            <a:ext cx="10911535" cy="310896"/>
          </a:xfrm>
          <a:prstGeom prst="rect">
            <a:avLst/>
          </a:prstGeom>
          <a:noFill/>
        </p:spPr>
        <p:txBody>
          <a:bodyPr wrap="square" lIns="0" rIns="0" tIns="0" bIns="0" anchor="t">
            <a:spAutoFit/>
          </a:bodyPr>
          <a:lstStyle/>
          <a:p>
            <a:pPr algn="l">
              <a:spcAft>
                <a:spcPts val="0"/>
              </a:spcAft>
            </a:pPr>
            <a:r>
              <a:rPr sz="1350" b="0" i="0">
                <a:solidFill>
                  <a:srgbClr val="6E6E6E"/>
                </a:solidFill>
                <a:latin typeface="Calibri"/>
              </a:rPr>
              <a:t>By stage, region and library — hard to tell apart, because they covary by design.</a:t>
            </a:r>
          </a:p>
        </p:txBody>
      </p:sp>
      <p:pic>
        <p:nvPicPr>
          <p:cNvPr id="4" name="Picture 3" descr="umap_age_tissue_sample.png"/>
          <p:cNvPicPr>
            <a:picLocks noChangeAspect="1"/>
          </p:cNvPicPr>
          <p:nvPr/>
        </p:nvPicPr>
        <p:blipFill>
          <a:blip r:embed="rId2"/>
          <a:stretch>
            <a:fillRect/>
          </a:stretch>
        </p:blipFill>
        <p:spPr>
          <a:xfrm>
            <a:off x="640080" y="2653560"/>
            <a:ext cx="10911535" cy="262072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11535" cy="566928"/>
          </a:xfrm>
          <a:prstGeom prst="rect">
            <a:avLst/>
          </a:prstGeom>
          <a:noFill/>
        </p:spPr>
        <p:txBody>
          <a:bodyPr wrap="square" lIns="0" rIns="0" tIns="0" bIns="0" anchor="t">
            <a:spAutoFit/>
          </a:bodyPr>
          <a:lstStyle/>
          <a:p>
            <a:pPr algn="l">
              <a:spcAft>
                <a:spcPts val="0"/>
              </a:spcAft>
            </a:pPr>
            <a:r>
              <a:rPr sz="2600" b="1" i="0">
                <a:solidFill>
                  <a:srgbClr val="1A1A1A"/>
                </a:solidFill>
                <a:latin typeface="Cambria"/>
              </a:rPr>
              <a:t>One panel per stage</a:t>
            </a:r>
          </a:p>
        </p:txBody>
      </p:sp>
      <p:sp>
        <p:nvSpPr>
          <p:cNvPr id="3" name="TextBox 2"/>
          <p:cNvSpPr txBox="1"/>
          <p:nvPr/>
        </p:nvSpPr>
        <p:spPr>
          <a:xfrm>
            <a:off x="640080" y="1152144"/>
            <a:ext cx="10911535" cy="310896"/>
          </a:xfrm>
          <a:prstGeom prst="rect">
            <a:avLst/>
          </a:prstGeom>
          <a:noFill/>
        </p:spPr>
        <p:txBody>
          <a:bodyPr wrap="square" lIns="0" rIns="0" tIns="0" bIns="0" anchor="t">
            <a:spAutoFit/>
          </a:bodyPr>
          <a:lstStyle/>
          <a:p>
            <a:pPr algn="l">
              <a:spcAft>
                <a:spcPts val="0"/>
              </a:spcAft>
            </a:pPr>
            <a:r>
              <a:rPr sz="1350" b="0" i="0">
                <a:solidFill>
                  <a:srgbClr val="6E6E6E"/>
                </a:solidFill>
                <a:latin typeface="Calibri"/>
              </a:rPr>
              <a:t>E7.0 touches nothing else: 98.6% self-neighbours, 0.0% reaching E9.0 or E10.0.</a:t>
            </a:r>
          </a:p>
        </p:txBody>
      </p:sp>
      <p:pic>
        <p:nvPicPr>
          <p:cNvPr id="4" name="Picture 3" descr="umap_facet_age.png"/>
          <p:cNvPicPr>
            <a:picLocks noChangeAspect="1"/>
          </p:cNvPicPr>
          <p:nvPr/>
        </p:nvPicPr>
        <p:blipFill>
          <a:blip r:embed="rId2"/>
          <a:stretch>
            <a:fillRect/>
          </a:stretch>
        </p:blipFill>
        <p:spPr>
          <a:xfrm>
            <a:off x="2312779" y="1572768"/>
            <a:ext cx="7566137" cy="4782312"/>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11535" cy="566928"/>
          </a:xfrm>
          <a:prstGeom prst="rect">
            <a:avLst/>
          </a:prstGeom>
          <a:noFill/>
        </p:spPr>
        <p:txBody>
          <a:bodyPr wrap="square" lIns="0" rIns="0" tIns="0" bIns="0" anchor="t">
            <a:spAutoFit/>
          </a:bodyPr>
          <a:lstStyle/>
          <a:p>
            <a:pPr algn="l">
              <a:spcAft>
                <a:spcPts val="0"/>
              </a:spcAft>
            </a:pPr>
            <a:r>
              <a:rPr sz="2600" b="1" i="0">
                <a:solidFill>
                  <a:srgbClr val="1A1A1A"/>
                </a:solidFill>
                <a:latin typeface="Cambria"/>
              </a:rPr>
              <a:t>One panel per dissected region</a:t>
            </a:r>
          </a:p>
        </p:txBody>
      </p:sp>
      <p:sp>
        <p:nvSpPr>
          <p:cNvPr id="3" name="TextBox 2"/>
          <p:cNvSpPr txBox="1"/>
          <p:nvPr/>
        </p:nvSpPr>
        <p:spPr>
          <a:xfrm>
            <a:off x="640080" y="1152144"/>
            <a:ext cx="10911535" cy="310896"/>
          </a:xfrm>
          <a:prstGeom prst="rect">
            <a:avLst/>
          </a:prstGeom>
          <a:noFill/>
        </p:spPr>
        <p:txBody>
          <a:bodyPr wrap="square" lIns="0" rIns="0" tIns="0" bIns="0" anchor="t">
            <a:spAutoFit/>
          </a:bodyPr>
          <a:lstStyle/>
          <a:p>
            <a:pPr algn="l">
              <a:spcAft>
                <a:spcPts val="0"/>
              </a:spcAft>
            </a:pPr>
            <a:r>
              <a:rPr sz="1350" b="0" i="0">
                <a:solidFill>
                  <a:srgbClr val="6E6E6E"/>
                </a:solidFill>
                <a:latin typeface="Calibri"/>
              </a:rPr>
              <a:t>Dissection widens with stage, so region and stage cannot be separated.</a:t>
            </a:r>
          </a:p>
        </p:txBody>
      </p:sp>
      <p:pic>
        <p:nvPicPr>
          <p:cNvPr id="4" name="Picture 3" descr="umap_facet_tissue.png"/>
          <p:cNvPicPr>
            <a:picLocks noChangeAspect="1"/>
          </p:cNvPicPr>
          <p:nvPr/>
        </p:nvPicPr>
        <p:blipFill>
          <a:blip r:embed="rId2"/>
          <a:stretch>
            <a:fillRect/>
          </a:stretch>
        </p:blipFill>
        <p:spPr>
          <a:xfrm>
            <a:off x="2312779" y="1572768"/>
            <a:ext cx="7566137" cy="4782312"/>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11535" cy="566928"/>
          </a:xfrm>
          <a:prstGeom prst="rect">
            <a:avLst/>
          </a:prstGeom>
          <a:noFill/>
        </p:spPr>
        <p:txBody>
          <a:bodyPr wrap="square" lIns="0" rIns="0" tIns="0" bIns="0" anchor="t">
            <a:spAutoFit/>
          </a:bodyPr>
          <a:lstStyle/>
          <a:p>
            <a:pPr algn="l">
              <a:spcAft>
                <a:spcPts val="0"/>
              </a:spcAft>
            </a:pPr>
            <a:r>
              <a:rPr sz="2600" b="1" i="0">
                <a:solidFill>
                  <a:srgbClr val="1A1A1A"/>
                </a:solidFill>
                <a:latin typeface="Cambria"/>
              </a:rPr>
              <a:t>Leiden clusters and hedgehog expression per cluster</a:t>
            </a:r>
          </a:p>
        </p:txBody>
      </p:sp>
      <p:sp>
        <p:nvSpPr>
          <p:cNvPr id="3" name="TextBox 2"/>
          <p:cNvSpPr txBox="1"/>
          <p:nvPr/>
        </p:nvSpPr>
        <p:spPr>
          <a:xfrm>
            <a:off x="640080" y="1152144"/>
            <a:ext cx="10911535" cy="310896"/>
          </a:xfrm>
          <a:prstGeom prst="rect">
            <a:avLst/>
          </a:prstGeom>
          <a:noFill/>
        </p:spPr>
        <p:txBody>
          <a:bodyPr wrap="square" lIns="0" rIns="0" tIns="0" bIns="0" anchor="t">
            <a:spAutoFit/>
          </a:bodyPr>
          <a:lstStyle/>
          <a:p>
            <a:pPr algn="l">
              <a:spcAft>
                <a:spcPts val="0"/>
              </a:spcAft>
            </a:pPr>
            <a:r>
              <a:rPr sz="1350" b="0" i="0">
                <a:solidFill>
                  <a:srgbClr val="6E6E6E"/>
                </a:solidFill>
                <a:latin typeface="Calibri"/>
              </a:rPr>
              <a:t>Expression is cluster-restricted rather than uniform — what a readout needs.</a:t>
            </a:r>
          </a:p>
        </p:txBody>
      </p:sp>
      <p:sp>
        <p:nvSpPr>
          <p:cNvPr id="4" name="TextBox 3"/>
          <p:cNvSpPr txBox="1"/>
          <p:nvPr/>
        </p:nvSpPr>
        <p:spPr>
          <a:xfrm>
            <a:off x="3204740" y="1572768"/>
            <a:ext cx="4364119" cy="256032"/>
          </a:xfrm>
          <a:prstGeom prst="rect">
            <a:avLst/>
          </a:prstGeom>
          <a:noFill/>
        </p:spPr>
        <p:txBody>
          <a:bodyPr wrap="square" lIns="0" rIns="0" tIns="0" bIns="0" anchor="t">
            <a:spAutoFit/>
          </a:bodyPr>
          <a:lstStyle/>
          <a:p>
            <a:pPr algn="ctr">
              <a:spcAft>
                <a:spcPts val="0"/>
              </a:spcAft>
            </a:pPr>
            <a:r>
              <a:rPr sz="1200" b="1" i="0">
                <a:solidFill>
                  <a:srgbClr val="1A1A1A"/>
                </a:solidFill>
                <a:latin typeface="Calibri"/>
              </a:rPr>
              <a:t>Leiden clusters</a:t>
            </a:r>
          </a:p>
        </p:txBody>
      </p:sp>
      <p:pic>
        <p:nvPicPr>
          <p:cNvPr id="5" name="Picture 4" descr="umap_leiden.png"/>
          <p:cNvPicPr>
            <a:picLocks noChangeAspect="1"/>
          </p:cNvPicPr>
          <p:nvPr/>
        </p:nvPicPr>
        <p:blipFill>
          <a:blip r:embed="rId2"/>
          <a:stretch>
            <a:fillRect/>
          </a:stretch>
        </p:blipFill>
        <p:spPr>
          <a:xfrm>
            <a:off x="3204740" y="1847088"/>
            <a:ext cx="4364120" cy="4507992"/>
          </a:xfrm>
          <a:prstGeom prst="rect">
            <a:avLst/>
          </a:prstGeom>
        </p:spPr>
      </p:pic>
      <p:sp>
        <p:nvSpPr>
          <p:cNvPr id="6" name="TextBox 5"/>
          <p:cNvSpPr txBox="1"/>
          <p:nvPr/>
        </p:nvSpPr>
        <p:spPr>
          <a:xfrm>
            <a:off x="7733451" y="1572768"/>
            <a:ext cx="1253503" cy="256032"/>
          </a:xfrm>
          <a:prstGeom prst="rect">
            <a:avLst/>
          </a:prstGeom>
          <a:noFill/>
        </p:spPr>
        <p:txBody>
          <a:bodyPr wrap="square" lIns="0" rIns="0" tIns="0" bIns="0" anchor="t">
            <a:spAutoFit/>
          </a:bodyPr>
          <a:lstStyle/>
          <a:p>
            <a:pPr algn="ctr">
              <a:spcAft>
                <a:spcPts val="0"/>
              </a:spcAft>
            </a:pPr>
            <a:r>
              <a:rPr sz="1200" b="1" i="0">
                <a:solidFill>
                  <a:srgbClr val="1A1A1A"/>
                </a:solidFill>
                <a:latin typeface="Calibri"/>
              </a:rPr>
              <a:t>Hh by cluster</a:t>
            </a:r>
          </a:p>
        </p:txBody>
      </p:sp>
      <p:pic>
        <p:nvPicPr>
          <p:cNvPr id="7" name="Picture 6" descr="dotplot__hedgehog_by_leiden.png"/>
          <p:cNvPicPr>
            <a:picLocks noChangeAspect="1"/>
          </p:cNvPicPr>
          <p:nvPr/>
        </p:nvPicPr>
        <p:blipFill>
          <a:blip r:embed="rId3"/>
          <a:stretch>
            <a:fillRect/>
          </a:stretch>
        </p:blipFill>
        <p:spPr>
          <a:xfrm>
            <a:off x="7733451" y="1847088"/>
            <a:ext cx="1253503" cy="4507992"/>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11535" cy="566928"/>
          </a:xfrm>
          <a:prstGeom prst="rect">
            <a:avLst/>
          </a:prstGeom>
          <a:noFill/>
        </p:spPr>
        <p:txBody>
          <a:bodyPr wrap="square" lIns="0" rIns="0" tIns="0" bIns="0" anchor="t">
            <a:spAutoFit/>
          </a:bodyPr>
          <a:lstStyle/>
          <a:p>
            <a:pPr algn="l">
              <a:spcAft>
                <a:spcPts val="0"/>
              </a:spcAft>
            </a:pPr>
            <a:r>
              <a:rPr sz="2600" b="1" i="0">
                <a:solidFill>
                  <a:srgbClr val="1A1A1A"/>
                </a:solidFill>
                <a:latin typeface="Cambria"/>
              </a:rPr>
              <a:t>Hedgehog pathway on the UMAP</a:t>
            </a:r>
          </a:p>
        </p:txBody>
      </p:sp>
      <p:sp>
        <p:nvSpPr>
          <p:cNvPr id="3" name="TextBox 2"/>
          <p:cNvSpPr txBox="1"/>
          <p:nvPr/>
        </p:nvSpPr>
        <p:spPr>
          <a:xfrm>
            <a:off x="640080" y="1152144"/>
            <a:ext cx="10911535" cy="310896"/>
          </a:xfrm>
          <a:prstGeom prst="rect">
            <a:avLst/>
          </a:prstGeom>
          <a:noFill/>
        </p:spPr>
        <p:txBody>
          <a:bodyPr wrap="square" lIns="0" rIns="0" tIns="0" bIns="0" anchor="t">
            <a:spAutoFit/>
          </a:bodyPr>
          <a:lstStyle/>
          <a:p>
            <a:pPr algn="l">
              <a:spcAft>
                <a:spcPts val="0"/>
              </a:spcAft>
            </a:pPr>
            <a:r>
              <a:rPr sz="1350" b="0" i="0">
                <a:solidFill>
                  <a:srgbClr val="6E6E6E"/>
                </a:solidFill>
                <a:latin typeface="Calibri"/>
              </a:rPr>
              <a:t>Shh and Gli1 sparse and localised, Smo and Ptch1 broad; non-expressors in grey.</a:t>
            </a:r>
          </a:p>
        </p:txBody>
      </p:sp>
      <p:pic>
        <p:nvPicPr>
          <p:cNvPr id="4" name="Picture 3" descr="umap_hedgehog_genes.png"/>
          <p:cNvPicPr>
            <a:picLocks noChangeAspect="1"/>
          </p:cNvPicPr>
          <p:nvPr/>
        </p:nvPicPr>
        <p:blipFill>
          <a:blip r:embed="rId2"/>
          <a:stretch>
            <a:fillRect/>
          </a:stretch>
        </p:blipFill>
        <p:spPr>
          <a:xfrm>
            <a:off x="3462765" y="1572768"/>
            <a:ext cx="5266163" cy="4782311"/>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11535" cy="566928"/>
          </a:xfrm>
          <a:prstGeom prst="rect">
            <a:avLst/>
          </a:prstGeom>
          <a:noFill/>
        </p:spPr>
        <p:txBody>
          <a:bodyPr wrap="square" lIns="0" rIns="0" tIns="0" bIns="0" anchor="t">
            <a:spAutoFit/>
          </a:bodyPr>
          <a:lstStyle/>
          <a:p>
            <a:pPr algn="l">
              <a:spcAft>
                <a:spcPts val="0"/>
              </a:spcAft>
            </a:pPr>
            <a:r>
              <a:rPr sz="2600" b="1" i="0">
                <a:solidFill>
                  <a:srgbClr val="1A1A1A"/>
                </a:solidFill>
                <a:latin typeface="Cambria"/>
              </a:rPr>
              <a:t>Hedgehog expression by stage</a:t>
            </a:r>
          </a:p>
        </p:txBody>
      </p:sp>
      <p:sp>
        <p:nvSpPr>
          <p:cNvPr id="3" name="TextBox 2"/>
          <p:cNvSpPr txBox="1"/>
          <p:nvPr/>
        </p:nvSpPr>
        <p:spPr>
          <a:xfrm>
            <a:off x="640080" y="1152144"/>
            <a:ext cx="10911535" cy="310896"/>
          </a:xfrm>
          <a:prstGeom prst="rect">
            <a:avLst/>
          </a:prstGeom>
          <a:noFill/>
        </p:spPr>
        <p:txBody>
          <a:bodyPr wrap="square" lIns="0" rIns="0" tIns="0" bIns="0" anchor="t">
            <a:spAutoFit/>
          </a:bodyPr>
          <a:lstStyle/>
          <a:p>
            <a:pPr algn="l">
              <a:spcAft>
                <a:spcPts val="0"/>
              </a:spcAft>
            </a:pPr>
            <a:r>
              <a:rPr sz="1350" b="0" i="0">
                <a:solidFill>
                  <a:srgbClr val="6E6E6E"/>
                </a:solidFill>
                <a:latin typeface="Calibri"/>
              </a:rPr>
              <a:t>Activity rises after E8.0, as Shh signalling begins once the neural tube forms.</a:t>
            </a:r>
          </a:p>
        </p:txBody>
      </p:sp>
      <p:pic>
        <p:nvPicPr>
          <p:cNvPr id="4" name="Picture 3" descr="violin_hedgehog_by_age.png"/>
          <p:cNvPicPr>
            <a:picLocks noChangeAspect="1"/>
          </p:cNvPicPr>
          <p:nvPr/>
        </p:nvPicPr>
        <p:blipFill>
          <a:blip r:embed="rId2"/>
          <a:stretch>
            <a:fillRect/>
          </a:stretch>
        </p:blipFill>
        <p:spPr>
          <a:xfrm>
            <a:off x="640080" y="2691453"/>
            <a:ext cx="10911535" cy="2544941"/>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11535" cy="566928"/>
          </a:xfrm>
          <a:prstGeom prst="rect">
            <a:avLst/>
          </a:prstGeom>
          <a:noFill/>
        </p:spPr>
        <p:txBody>
          <a:bodyPr wrap="square" lIns="0" rIns="0" tIns="0" bIns="0" anchor="t">
            <a:spAutoFit/>
          </a:bodyPr>
          <a:lstStyle/>
          <a:p>
            <a:pPr algn="l">
              <a:spcAft>
                <a:spcPts val="0"/>
              </a:spcAft>
            </a:pPr>
            <a:r>
              <a:rPr sz="2600" b="1" i="0">
                <a:solidFill>
                  <a:srgbClr val="1A1A1A"/>
                </a:solidFill>
                <a:latin typeface="Cambria"/>
              </a:rPr>
              <a:t>Harmony on chip — tested, then rejected</a:t>
            </a:r>
          </a:p>
        </p:txBody>
      </p:sp>
      <p:sp>
        <p:nvSpPr>
          <p:cNvPr id="3" name="TextBox 2"/>
          <p:cNvSpPr txBox="1"/>
          <p:nvPr/>
        </p:nvSpPr>
        <p:spPr>
          <a:xfrm>
            <a:off x="640080" y="1152144"/>
            <a:ext cx="10911535" cy="310896"/>
          </a:xfrm>
          <a:prstGeom prst="rect">
            <a:avLst/>
          </a:prstGeom>
          <a:noFill/>
        </p:spPr>
        <p:txBody>
          <a:bodyPr wrap="square" lIns="0" rIns="0" tIns="0" bIns="0" anchor="t">
            <a:spAutoFit/>
          </a:bodyPr>
          <a:lstStyle/>
          <a:p>
            <a:pPr algn="l">
              <a:spcAft>
                <a:spcPts val="0"/>
              </a:spcAft>
            </a:pPr>
            <a:r>
              <a:rPr sz="1350" b="0" i="0">
                <a:solidFill>
                  <a:srgbClr val="6E6E6E"/>
                </a:solidFill>
                <a:latin typeface="Calibri"/>
              </a:rPr>
              <a:t>Mixing rose 0.01% → 6.22%, but no chip spans both ends, so there was nothing to correct.</a:t>
            </a:r>
          </a:p>
        </p:txBody>
      </p:sp>
      <p:pic>
        <p:nvPicPr>
          <p:cNvPr id="4" name="Picture 3" descr="before_after_chip.png"/>
          <p:cNvPicPr>
            <a:picLocks noChangeAspect="1"/>
          </p:cNvPicPr>
          <p:nvPr/>
        </p:nvPicPr>
        <p:blipFill>
          <a:blip r:embed="rId2"/>
          <a:stretch>
            <a:fillRect/>
          </a:stretch>
        </p:blipFill>
        <p:spPr>
          <a:xfrm>
            <a:off x="883412" y="1572768"/>
            <a:ext cx="10424869" cy="4782312"/>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7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965960"/>
            <a:ext cx="1828800" cy="1280160"/>
          </a:xfrm>
          <a:prstGeom prst="rect">
            <a:avLst/>
          </a:prstGeom>
          <a:noFill/>
        </p:spPr>
        <p:txBody>
          <a:bodyPr wrap="square" lIns="0" rIns="0" tIns="0" bIns="0" anchor="t">
            <a:spAutoFit/>
          </a:bodyPr>
          <a:lstStyle/>
          <a:p>
            <a:pPr algn="l">
              <a:spcAft>
                <a:spcPts val="0"/>
              </a:spcAft>
            </a:pPr>
            <a:r>
              <a:rPr sz="7800" b="1" i="0">
                <a:solidFill>
                  <a:srgbClr val="99000D"/>
                </a:solidFill>
                <a:latin typeface="Cambria"/>
              </a:rPr>
              <a:t>2</a:t>
            </a:r>
          </a:p>
        </p:txBody>
      </p:sp>
      <p:sp>
        <p:nvSpPr>
          <p:cNvPr id="4" name="TextBox 3"/>
          <p:cNvSpPr txBox="1"/>
          <p:nvPr/>
        </p:nvSpPr>
        <p:spPr>
          <a:xfrm>
            <a:off x="822960" y="3218688"/>
            <a:ext cx="10424160" cy="1097280"/>
          </a:xfrm>
          <a:prstGeom prst="rect">
            <a:avLst/>
          </a:prstGeom>
          <a:noFill/>
        </p:spPr>
        <p:txBody>
          <a:bodyPr wrap="square" lIns="0" rIns="0" tIns="0" bIns="0" anchor="t">
            <a:spAutoFit/>
          </a:bodyPr>
          <a:lstStyle/>
          <a:p>
            <a:pPr algn="l">
              <a:lnSpc>
                <a:spcPct val="112000"/>
              </a:lnSpc>
              <a:spcAft>
                <a:spcPts val="0"/>
              </a:spcAft>
            </a:pPr>
            <a:r>
              <a:rPr sz="3000" b="1" i="0">
                <a:solidFill>
                  <a:srgbClr val="FFFFFF"/>
                </a:solidFill>
                <a:latin typeface="Cambria"/>
              </a:rPr>
              <a:t>Joining Brooks 2025, and a first CellRank run</a:t>
            </a:r>
          </a:p>
        </p:txBody>
      </p:sp>
      <p:sp>
        <p:nvSpPr>
          <p:cNvPr id="5" name="TextBox 4"/>
          <p:cNvSpPr txBox="1"/>
          <p:nvPr/>
        </p:nvSpPr>
        <p:spPr>
          <a:xfrm>
            <a:off x="822960" y="4407408"/>
            <a:ext cx="9509760" cy="822960"/>
          </a:xfrm>
          <a:prstGeom prst="rect">
            <a:avLst/>
          </a:prstGeom>
          <a:noFill/>
        </p:spPr>
        <p:txBody>
          <a:bodyPr wrap="square" lIns="0" rIns="0" tIns="0" bIns="0" anchor="t">
            <a:spAutoFit/>
          </a:bodyPr>
          <a:lstStyle/>
          <a:p>
            <a:pPr algn="l">
              <a:lnSpc>
                <a:spcPct val="130000"/>
              </a:lnSpc>
              <a:spcAft>
                <a:spcPts val="0"/>
              </a:spcAft>
            </a:pPr>
            <a:r>
              <a:rPr sz="1500" b="0" i="0">
                <a:solidFill>
                  <a:srgbClr val="FCC9B4"/>
                </a:solidFill>
                <a:latin typeface="Calibri"/>
              </a:rPr>
              <a:t>A second dataset to bridge the E7.0–E8.0 gap, then velocity and optimal transport on the result.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11535" cy="566928"/>
          </a:xfrm>
          <a:prstGeom prst="rect">
            <a:avLst/>
          </a:prstGeom>
          <a:noFill/>
        </p:spPr>
        <p:txBody>
          <a:bodyPr wrap="square" lIns="0" rIns="0" tIns="0" bIns="0" anchor="t">
            <a:spAutoFit/>
          </a:bodyPr>
          <a:lstStyle/>
          <a:p>
            <a:pPr algn="l">
              <a:spcAft>
                <a:spcPts val="0"/>
              </a:spcAft>
            </a:pPr>
            <a:r>
              <a:rPr sz="2600" b="1" i="0">
                <a:solidFill>
                  <a:srgbClr val="1A1A1A"/>
                </a:solidFill>
                <a:latin typeface="Cambria"/>
              </a:rPr>
              <a:t>The two datasets are not technically alike</a:t>
            </a:r>
          </a:p>
        </p:txBody>
      </p:sp>
      <p:sp>
        <p:nvSpPr>
          <p:cNvPr id="3" name="TextBox 2"/>
          <p:cNvSpPr txBox="1"/>
          <p:nvPr/>
        </p:nvSpPr>
        <p:spPr>
          <a:xfrm>
            <a:off x="640080" y="1152144"/>
            <a:ext cx="10911535" cy="310896"/>
          </a:xfrm>
          <a:prstGeom prst="rect">
            <a:avLst/>
          </a:prstGeom>
          <a:noFill/>
        </p:spPr>
        <p:txBody>
          <a:bodyPr wrap="square" lIns="0" rIns="0" tIns="0" bIns="0" anchor="t">
            <a:spAutoFit/>
          </a:bodyPr>
          <a:lstStyle/>
          <a:p>
            <a:pPr algn="l">
              <a:spcAft>
                <a:spcPts val="0"/>
              </a:spcAft>
            </a:pPr>
            <a:r>
              <a:rPr sz="1350" b="0" i="0">
                <a:solidFill>
                  <a:srgbClr val="6E6E6E"/>
                </a:solidFill>
                <a:latin typeface="Calibri"/>
              </a:rPr>
              <a:t>3.6× deeper per cell, yet every cross-dataset stage pair sits at r = 0.93–0.96.</a:t>
            </a:r>
          </a:p>
        </p:txBody>
      </p:sp>
      <p:pic>
        <p:nvPicPr>
          <p:cNvPr id="4" name="Picture 3" descr="dataset_comparison.png"/>
          <p:cNvPicPr>
            <a:picLocks noChangeAspect="1"/>
          </p:cNvPicPr>
          <p:nvPr/>
        </p:nvPicPr>
        <p:blipFill>
          <a:blip r:embed="rId2"/>
          <a:stretch>
            <a:fillRect/>
          </a:stretch>
        </p:blipFill>
        <p:spPr>
          <a:xfrm>
            <a:off x="2988430" y="1572768"/>
            <a:ext cx="6214835" cy="4782312"/>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11535" cy="566928"/>
          </a:xfrm>
          <a:prstGeom prst="rect">
            <a:avLst/>
          </a:prstGeom>
          <a:noFill/>
        </p:spPr>
        <p:txBody>
          <a:bodyPr wrap="square" lIns="0" rIns="0" tIns="0" bIns="0" anchor="t">
            <a:spAutoFit/>
          </a:bodyPr>
          <a:lstStyle/>
          <a:p>
            <a:pPr algn="l">
              <a:spcAft>
                <a:spcPts val="0"/>
              </a:spcAft>
            </a:pPr>
            <a:r>
              <a:rPr sz="2600" b="1" i="0">
                <a:solidFill>
                  <a:srgbClr val="1A1A1A"/>
                </a:solidFill>
                <a:latin typeface="Cambria"/>
              </a:rPr>
              <a:t>Integration by dataset, before and after Harmony</a:t>
            </a:r>
          </a:p>
        </p:txBody>
      </p:sp>
      <p:sp>
        <p:nvSpPr>
          <p:cNvPr id="3" name="TextBox 2"/>
          <p:cNvSpPr txBox="1"/>
          <p:nvPr/>
        </p:nvSpPr>
        <p:spPr>
          <a:xfrm>
            <a:off x="640080" y="1152144"/>
            <a:ext cx="10911535" cy="310896"/>
          </a:xfrm>
          <a:prstGeom prst="rect">
            <a:avLst/>
          </a:prstGeom>
          <a:noFill/>
        </p:spPr>
        <p:txBody>
          <a:bodyPr wrap="square" lIns="0" rIns="0" tIns="0" bIns="0" anchor="t">
            <a:spAutoFit/>
          </a:bodyPr>
          <a:lstStyle/>
          <a:p>
            <a:pPr algn="l">
              <a:spcAft>
                <a:spcPts val="0"/>
              </a:spcAft>
            </a:pPr>
            <a:r>
              <a:rPr sz="1350" b="0" i="0">
                <a:solidFill>
                  <a:srgbClr val="6E6E6E"/>
                </a:solidFill>
                <a:latin typeface="Calibri"/>
              </a:rPr>
              <a:t>Self-neighbour share falls from 99.6% / 99.8% to 80.3% / 86.3% — they interdigitate.</a:t>
            </a:r>
          </a:p>
        </p:txBody>
      </p:sp>
      <p:pic>
        <p:nvPicPr>
          <p:cNvPr id="4" name="Picture 3" descr="before_after_dataset.png"/>
          <p:cNvPicPr>
            <a:picLocks noChangeAspect="1"/>
          </p:cNvPicPr>
          <p:nvPr/>
        </p:nvPicPr>
        <p:blipFill>
          <a:blip r:embed="rId2"/>
          <a:stretch>
            <a:fillRect/>
          </a:stretch>
        </p:blipFill>
        <p:spPr>
          <a:xfrm>
            <a:off x="640080" y="1643541"/>
            <a:ext cx="10911535" cy="4640765"/>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11535" cy="566928"/>
          </a:xfrm>
          <a:prstGeom prst="rect">
            <a:avLst/>
          </a:prstGeom>
          <a:noFill/>
        </p:spPr>
        <p:txBody>
          <a:bodyPr wrap="square" lIns="0" rIns="0" tIns="0" bIns="0" anchor="t">
            <a:spAutoFit/>
          </a:bodyPr>
          <a:lstStyle/>
          <a:p>
            <a:pPr algn="l">
              <a:spcAft>
                <a:spcPts val="0"/>
              </a:spcAft>
            </a:pPr>
            <a:r>
              <a:rPr sz="2600" b="1" i="0">
                <a:solidFill>
                  <a:srgbClr val="1A1A1A"/>
                </a:solidFill>
                <a:latin typeface="Cambria"/>
              </a:rPr>
              <a:t>Integration by stage, before and after Harmony</a:t>
            </a:r>
          </a:p>
        </p:txBody>
      </p:sp>
      <p:sp>
        <p:nvSpPr>
          <p:cNvPr id="3" name="TextBox 2"/>
          <p:cNvSpPr txBox="1"/>
          <p:nvPr/>
        </p:nvSpPr>
        <p:spPr>
          <a:xfrm>
            <a:off x="640080" y="1152144"/>
            <a:ext cx="10911535" cy="310896"/>
          </a:xfrm>
          <a:prstGeom prst="rect">
            <a:avLst/>
          </a:prstGeom>
          <a:noFill/>
        </p:spPr>
        <p:txBody>
          <a:bodyPr wrap="square" lIns="0" rIns="0" tIns="0" bIns="0" anchor="t">
            <a:spAutoFit/>
          </a:bodyPr>
          <a:lstStyle/>
          <a:p>
            <a:pPr algn="l">
              <a:spcAft>
                <a:spcPts val="0"/>
              </a:spcAft>
            </a:pPr>
            <a:r>
              <a:rPr sz="1350" b="0" i="0">
                <a:solidFill>
                  <a:srgbClr val="6E6E6E"/>
                </a:solidFill>
                <a:latin typeface="Calibri"/>
              </a:rPr>
              <a:t>Nine stages form one gradient; the graph is now a single component, 100% of cells.</a:t>
            </a:r>
          </a:p>
        </p:txBody>
      </p:sp>
      <p:pic>
        <p:nvPicPr>
          <p:cNvPr id="4" name="Picture 3" descr="before_after_stage.png"/>
          <p:cNvPicPr>
            <a:picLocks noChangeAspect="1"/>
          </p:cNvPicPr>
          <p:nvPr/>
        </p:nvPicPr>
        <p:blipFill>
          <a:blip r:embed="rId2"/>
          <a:stretch>
            <a:fillRect/>
          </a:stretch>
        </p:blipFill>
        <p:spPr>
          <a:xfrm>
            <a:off x="640080" y="1643541"/>
            <a:ext cx="10911535" cy="4640765"/>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11535" cy="566928"/>
          </a:xfrm>
          <a:prstGeom prst="rect">
            <a:avLst/>
          </a:prstGeom>
          <a:noFill/>
        </p:spPr>
        <p:txBody>
          <a:bodyPr wrap="square" lIns="0" rIns="0" tIns="0" bIns="0" anchor="t">
            <a:spAutoFit/>
          </a:bodyPr>
          <a:lstStyle/>
          <a:p>
            <a:pPr algn="l">
              <a:spcAft>
                <a:spcPts val="0"/>
              </a:spcAft>
            </a:pPr>
            <a:r>
              <a:rPr sz="2600" b="1" i="0">
                <a:solidFill>
                  <a:srgbClr val="1A1A1A"/>
                </a:solidFill>
                <a:latin typeface="Cambria"/>
              </a:rPr>
              <a:t>Joint object, one panel per stage</a:t>
            </a:r>
          </a:p>
        </p:txBody>
      </p:sp>
      <p:sp>
        <p:nvSpPr>
          <p:cNvPr id="3" name="TextBox 2"/>
          <p:cNvSpPr txBox="1"/>
          <p:nvPr/>
        </p:nvSpPr>
        <p:spPr>
          <a:xfrm>
            <a:off x="640080" y="1152144"/>
            <a:ext cx="10911535" cy="310896"/>
          </a:xfrm>
          <a:prstGeom prst="rect">
            <a:avLst/>
          </a:prstGeom>
          <a:noFill/>
        </p:spPr>
        <p:txBody>
          <a:bodyPr wrap="square" lIns="0" rIns="0" tIns="0" bIns="0" anchor="t">
            <a:spAutoFit/>
          </a:bodyPr>
          <a:lstStyle/>
          <a:p>
            <a:pPr algn="l">
              <a:spcAft>
                <a:spcPts val="0"/>
              </a:spcAft>
            </a:pPr>
            <a:r>
              <a:rPr sz="1350" b="0" i="0">
                <a:solidFill>
                  <a:srgbClr val="6E6E6E"/>
                </a:solidFill>
                <a:latin typeface="Calibri"/>
              </a:rPr>
              <a:t>Brooks supplies E7.5 to E8.75 — exactly the window the La Manno series skips.</a:t>
            </a:r>
          </a:p>
        </p:txBody>
      </p:sp>
      <p:pic>
        <p:nvPicPr>
          <p:cNvPr id="4" name="Picture 3" descr="umap_facet_stage.png"/>
          <p:cNvPicPr>
            <a:picLocks noChangeAspect="1"/>
          </p:cNvPicPr>
          <p:nvPr/>
        </p:nvPicPr>
        <p:blipFill>
          <a:blip r:embed="rId2"/>
          <a:stretch>
            <a:fillRect/>
          </a:stretch>
        </p:blipFill>
        <p:spPr>
          <a:xfrm>
            <a:off x="3463346" y="1572768"/>
            <a:ext cx="5265001" cy="4782311"/>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11535" cy="566928"/>
          </a:xfrm>
          <a:prstGeom prst="rect">
            <a:avLst/>
          </a:prstGeom>
          <a:noFill/>
        </p:spPr>
        <p:txBody>
          <a:bodyPr wrap="square" lIns="0" rIns="0" tIns="0" bIns="0" anchor="t">
            <a:spAutoFit/>
          </a:bodyPr>
          <a:lstStyle/>
          <a:p>
            <a:pPr algn="l">
              <a:spcAft>
                <a:spcPts val="0"/>
              </a:spcAft>
            </a:pPr>
            <a:r>
              <a:rPr sz="2600" b="1" i="0">
                <a:solidFill>
                  <a:srgbClr val="1A1A1A"/>
                </a:solidFill>
                <a:latin typeface="Cambria"/>
              </a:rPr>
              <a:t>Joint PCA variance</a:t>
            </a:r>
          </a:p>
        </p:txBody>
      </p:sp>
      <p:sp>
        <p:nvSpPr>
          <p:cNvPr id="3" name="TextBox 2"/>
          <p:cNvSpPr txBox="1"/>
          <p:nvPr/>
        </p:nvSpPr>
        <p:spPr>
          <a:xfrm>
            <a:off x="640080" y="1152144"/>
            <a:ext cx="10911535" cy="310896"/>
          </a:xfrm>
          <a:prstGeom prst="rect">
            <a:avLst/>
          </a:prstGeom>
          <a:noFill/>
        </p:spPr>
        <p:txBody>
          <a:bodyPr wrap="square" lIns="0" rIns="0" tIns="0" bIns="0" anchor="t">
            <a:spAutoFit/>
          </a:bodyPr>
          <a:lstStyle/>
          <a:p>
            <a:pPr algn="l">
              <a:spcAft>
                <a:spcPts val="0"/>
              </a:spcAft>
            </a:pPr>
            <a:r>
              <a:rPr sz="1350" b="0" i="0">
                <a:solidFill>
                  <a:srgbClr val="6E6E6E"/>
                </a:solidFill>
                <a:latin typeface="Calibri"/>
              </a:rPr>
              <a:t>PC1 explains 3.6%, the top 50 only 29.7% — two platforms spread the variance thinner.</a:t>
            </a:r>
          </a:p>
        </p:txBody>
      </p:sp>
      <p:pic>
        <p:nvPicPr>
          <p:cNvPr id="4" name="Picture 3" descr="pca_variance_ratio.png"/>
          <p:cNvPicPr>
            <a:picLocks noChangeAspect="1"/>
          </p:cNvPicPr>
          <p:nvPr/>
        </p:nvPicPr>
        <p:blipFill>
          <a:blip r:embed="rId2"/>
          <a:stretch>
            <a:fillRect/>
          </a:stretch>
        </p:blipFill>
        <p:spPr>
          <a:xfrm>
            <a:off x="640080" y="2054278"/>
            <a:ext cx="10911535" cy="381929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11535" cy="566928"/>
          </a:xfrm>
          <a:prstGeom prst="rect">
            <a:avLst/>
          </a:prstGeom>
          <a:noFill/>
        </p:spPr>
        <p:txBody>
          <a:bodyPr wrap="square" lIns="0" rIns="0" tIns="0" bIns="0" anchor="t">
            <a:spAutoFit/>
          </a:bodyPr>
          <a:lstStyle/>
          <a:p>
            <a:pPr algn="l">
              <a:spcAft>
                <a:spcPts val="0"/>
              </a:spcAft>
            </a:pPr>
            <a:r>
              <a:rPr sz="2600" b="1" i="0">
                <a:solidFill>
                  <a:srgbClr val="1A1A1A"/>
                </a:solidFill>
                <a:latin typeface="Cambria"/>
              </a:rPr>
              <a:t>Joint PCA, uncorrected versus Harmony</a:t>
            </a:r>
          </a:p>
        </p:txBody>
      </p:sp>
      <p:sp>
        <p:nvSpPr>
          <p:cNvPr id="3" name="TextBox 2"/>
          <p:cNvSpPr txBox="1"/>
          <p:nvPr/>
        </p:nvSpPr>
        <p:spPr>
          <a:xfrm>
            <a:off x="640080" y="1152144"/>
            <a:ext cx="10911535" cy="310896"/>
          </a:xfrm>
          <a:prstGeom prst="rect">
            <a:avLst/>
          </a:prstGeom>
          <a:noFill/>
        </p:spPr>
        <p:txBody>
          <a:bodyPr wrap="square" lIns="0" rIns="0" tIns="0" bIns="0" anchor="t">
            <a:spAutoFit/>
          </a:bodyPr>
          <a:lstStyle/>
          <a:p>
            <a:pPr algn="l">
              <a:spcAft>
                <a:spcPts val="0"/>
              </a:spcAft>
            </a:pPr>
            <a:r>
              <a:rPr sz="1350" b="0" i="0">
                <a:solidFill>
                  <a:srgbClr val="6E6E6E"/>
                </a:solidFill>
                <a:latin typeface="Calibri"/>
              </a:rPr>
              <a:t>Components that separated the datasets no longer do — the intended behaviour.</a:t>
            </a:r>
          </a:p>
        </p:txBody>
      </p:sp>
      <p:pic>
        <p:nvPicPr>
          <p:cNvPr id="4" name="Picture 3" descr="pca_scatter_dataset.png"/>
          <p:cNvPicPr>
            <a:picLocks noChangeAspect="1"/>
          </p:cNvPicPr>
          <p:nvPr/>
        </p:nvPicPr>
        <p:blipFill>
          <a:blip r:embed="rId2"/>
          <a:stretch>
            <a:fillRect/>
          </a:stretch>
        </p:blipFill>
        <p:spPr>
          <a:xfrm>
            <a:off x="2979284" y="1572768"/>
            <a:ext cx="6233125" cy="4782311"/>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11535" cy="566928"/>
          </a:xfrm>
          <a:prstGeom prst="rect">
            <a:avLst/>
          </a:prstGeom>
          <a:noFill/>
        </p:spPr>
        <p:txBody>
          <a:bodyPr wrap="square" lIns="0" rIns="0" tIns="0" bIns="0" anchor="t">
            <a:spAutoFit/>
          </a:bodyPr>
          <a:lstStyle/>
          <a:p>
            <a:pPr algn="l">
              <a:spcAft>
                <a:spcPts val="0"/>
              </a:spcAft>
            </a:pPr>
            <a:r>
              <a:rPr sz="2600" b="1" i="0">
                <a:solidFill>
                  <a:srgbClr val="1A1A1A"/>
                </a:solidFill>
                <a:latin typeface="Cambria"/>
              </a:rPr>
              <a:t>Hedgehog pathway on the joint UMAP</a:t>
            </a:r>
          </a:p>
        </p:txBody>
      </p:sp>
      <p:sp>
        <p:nvSpPr>
          <p:cNvPr id="3" name="TextBox 2"/>
          <p:cNvSpPr txBox="1"/>
          <p:nvPr/>
        </p:nvSpPr>
        <p:spPr>
          <a:xfrm>
            <a:off x="640080" y="1152144"/>
            <a:ext cx="10911535" cy="310896"/>
          </a:xfrm>
          <a:prstGeom prst="rect">
            <a:avLst/>
          </a:prstGeom>
          <a:noFill/>
        </p:spPr>
        <p:txBody>
          <a:bodyPr wrap="square" lIns="0" rIns="0" tIns="0" bIns="0" anchor="t">
            <a:spAutoFit/>
          </a:bodyPr>
          <a:lstStyle/>
          <a:p>
            <a:pPr algn="l">
              <a:spcAft>
                <a:spcPts val="0"/>
              </a:spcAft>
            </a:pPr>
            <a:r>
              <a:rPr sz="1350" b="0" i="0">
                <a:solidFill>
                  <a:srgbClr val="6E6E6E"/>
                </a:solidFill>
                <a:latin typeface="Calibri"/>
              </a:rPr>
              <a:t>All seven genes survive the 15,200-gene intersection; Shh in 3,578 of 107,629 cells.</a:t>
            </a:r>
          </a:p>
        </p:txBody>
      </p:sp>
      <p:pic>
        <p:nvPicPr>
          <p:cNvPr id="4" name="Picture 3" descr="features_hedgehog_umap.png"/>
          <p:cNvPicPr>
            <a:picLocks noChangeAspect="1"/>
          </p:cNvPicPr>
          <p:nvPr/>
        </p:nvPicPr>
        <p:blipFill>
          <a:blip r:embed="rId2"/>
          <a:stretch>
            <a:fillRect/>
          </a:stretch>
        </p:blipFill>
        <p:spPr>
          <a:xfrm>
            <a:off x="2115054" y="1691640"/>
            <a:ext cx="7961586" cy="3429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11535" cy="566928"/>
          </a:xfrm>
          <a:prstGeom prst="rect">
            <a:avLst/>
          </a:prstGeom>
          <a:noFill/>
        </p:spPr>
        <p:txBody>
          <a:bodyPr wrap="square" lIns="0" rIns="0" tIns="0" bIns="0" anchor="t">
            <a:spAutoFit/>
          </a:bodyPr>
          <a:lstStyle/>
          <a:p>
            <a:pPr algn="l">
              <a:spcAft>
                <a:spcPts val="0"/>
              </a:spcAft>
            </a:pPr>
            <a:r>
              <a:rPr sz="2600" b="1" i="0">
                <a:solidFill>
                  <a:srgbClr val="1A1A1A"/>
                </a:solidFill>
                <a:latin typeface="Cambria"/>
              </a:rPr>
              <a:t>Regional markers on the joint UMAP</a:t>
            </a:r>
          </a:p>
        </p:txBody>
      </p:sp>
      <p:sp>
        <p:nvSpPr>
          <p:cNvPr id="3" name="TextBox 2"/>
          <p:cNvSpPr txBox="1"/>
          <p:nvPr/>
        </p:nvSpPr>
        <p:spPr>
          <a:xfrm>
            <a:off x="640080" y="1152144"/>
            <a:ext cx="10911535" cy="310896"/>
          </a:xfrm>
          <a:prstGeom prst="rect">
            <a:avLst/>
          </a:prstGeom>
          <a:noFill/>
        </p:spPr>
        <p:txBody>
          <a:bodyPr wrap="square" lIns="0" rIns="0" tIns="0" bIns="0" anchor="t">
            <a:spAutoFit/>
          </a:bodyPr>
          <a:lstStyle/>
          <a:p>
            <a:pPr algn="l">
              <a:spcAft>
                <a:spcPts val="0"/>
              </a:spcAft>
            </a:pPr>
            <a:r>
              <a:rPr sz="1350" b="0" i="0">
                <a:solidFill>
                  <a:srgbClr val="6E6E6E"/>
                </a:solidFill>
                <a:latin typeface="Calibri"/>
              </a:rPr>
              <a:t>Six3, Otx2, En1, Gbx2 and Hoxb1 occupy distinct territory along the A–P axis.</a:t>
            </a:r>
          </a:p>
        </p:txBody>
      </p:sp>
      <p:pic>
        <p:nvPicPr>
          <p:cNvPr id="4" name="Picture 3" descr="features_regional_umap.png"/>
          <p:cNvPicPr>
            <a:picLocks noChangeAspect="1"/>
          </p:cNvPicPr>
          <p:nvPr/>
        </p:nvPicPr>
        <p:blipFill>
          <a:blip r:embed="rId2"/>
          <a:stretch>
            <a:fillRect/>
          </a:stretch>
        </p:blipFill>
        <p:spPr>
          <a:xfrm>
            <a:off x="2115054" y="1691640"/>
            <a:ext cx="7961586" cy="3429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11535" cy="566928"/>
          </a:xfrm>
          <a:prstGeom prst="rect">
            <a:avLst/>
          </a:prstGeom>
          <a:noFill/>
        </p:spPr>
        <p:txBody>
          <a:bodyPr wrap="square" lIns="0" rIns="0" tIns="0" bIns="0" anchor="t">
            <a:spAutoFit/>
          </a:bodyPr>
          <a:lstStyle/>
          <a:p>
            <a:pPr algn="l">
              <a:spcAft>
                <a:spcPts val="0"/>
              </a:spcAft>
            </a:pPr>
            <a:r>
              <a:rPr sz="2600" b="1" i="0">
                <a:solidFill>
                  <a:srgbClr val="1A1A1A"/>
                </a:solidFill>
                <a:latin typeface="Cambria"/>
              </a:rPr>
              <a:t>RNA velocity stream</a:t>
            </a:r>
          </a:p>
        </p:txBody>
      </p:sp>
      <p:sp>
        <p:nvSpPr>
          <p:cNvPr id="3" name="TextBox 2"/>
          <p:cNvSpPr txBox="1"/>
          <p:nvPr/>
        </p:nvSpPr>
        <p:spPr>
          <a:xfrm>
            <a:off x="640080" y="1152144"/>
            <a:ext cx="10911535" cy="310896"/>
          </a:xfrm>
          <a:prstGeom prst="rect">
            <a:avLst/>
          </a:prstGeom>
          <a:noFill/>
        </p:spPr>
        <p:txBody>
          <a:bodyPr wrap="square" lIns="0" rIns="0" tIns="0" bIns="0" anchor="t">
            <a:spAutoFit/>
          </a:bodyPr>
          <a:lstStyle/>
          <a:p>
            <a:pPr algn="l">
              <a:spcAft>
                <a:spcPts val="0"/>
              </a:spcAft>
            </a:pPr>
            <a:r>
              <a:rPr sz="1350" b="0" i="0">
                <a:solidFill>
                  <a:srgbClr val="6E6E6E"/>
                </a:solidFill>
                <a:latin typeface="Calibri"/>
              </a:rPr>
              <a:t>Regenerated with velocyto: 19.1% of reads unspliced vs the authors' 19.3%.</a:t>
            </a:r>
          </a:p>
        </p:txBody>
      </p:sp>
      <p:pic>
        <p:nvPicPr>
          <p:cNvPr id="4" name="Picture 3" descr="scvelo_velocity_stream_age.png"/>
          <p:cNvPicPr>
            <a:picLocks noChangeAspect="1"/>
          </p:cNvPicPr>
          <p:nvPr/>
        </p:nvPicPr>
        <p:blipFill>
          <a:blip r:embed="rId2"/>
          <a:stretch>
            <a:fillRect/>
          </a:stretch>
        </p:blipFill>
        <p:spPr>
          <a:xfrm>
            <a:off x="3210067" y="1572768"/>
            <a:ext cx="5771560" cy="4782311"/>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11535" cy="566928"/>
          </a:xfrm>
          <a:prstGeom prst="rect">
            <a:avLst/>
          </a:prstGeom>
          <a:noFill/>
        </p:spPr>
        <p:txBody>
          <a:bodyPr wrap="square" lIns="0" rIns="0" tIns="0" bIns="0" anchor="t">
            <a:spAutoFit/>
          </a:bodyPr>
          <a:lstStyle/>
          <a:p>
            <a:pPr algn="l">
              <a:spcAft>
                <a:spcPts val="0"/>
              </a:spcAft>
            </a:pPr>
            <a:r>
              <a:rPr sz="2600" b="1" i="0">
                <a:solidFill>
                  <a:srgbClr val="1A1A1A"/>
                </a:solidFill>
                <a:latin typeface="Cambria"/>
              </a:rPr>
              <a:t>CellRank macrostates, terminal and initial states</a:t>
            </a:r>
          </a:p>
        </p:txBody>
      </p:sp>
      <p:sp>
        <p:nvSpPr>
          <p:cNvPr id="3" name="TextBox 2"/>
          <p:cNvSpPr txBox="1"/>
          <p:nvPr/>
        </p:nvSpPr>
        <p:spPr>
          <a:xfrm>
            <a:off x="640080" y="1152144"/>
            <a:ext cx="10911535" cy="310896"/>
          </a:xfrm>
          <a:prstGeom prst="rect">
            <a:avLst/>
          </a:prstGeom>
          <a:noFill/>
        </p:spPr>
        <p:txBody>
          <a:bodyPr wrap="square" lIns="0" rIns="0" tIns="0" bIns="0" anchor="t">
            <a:spAutoFit/>
          </a:bodyPr>
          <a:lstStyle/>
          <a:p>
            <a:pPr algn="l">
              <a:spcAft>
                <a:spcPts val="0"/>
              </a:spcAft>
            </a:pPr>
            <a:r>
              <a:rPr sz="1350" b="0" i="0">
                <a:solidFill>
                  <a:srgbClr val="6E6E6E"/>
                </a:solidFill>
                <a:latin typeface="Calibri"/>
              </a:rPr>
              <a:t>velocity 0.8 + connectivity 0.2, the only weighting placing a root in E7.0.</a:t>
            </a:r>
          </a:p>
        </p:txBody>
      </p:sp>
      <p:sp>
        <p:nvSpPr>
          <p:cNvPr id="4" name="TextBox 3"/>
          <p:cNvSpPr txBox="1"/>
          <p:nvPr/>
        </p:nvSpPr>
        <p:spPr>
          <a:xfrm>
            <a:off x="640080" y="1572768"/>
            <a:ext cx="3541046" cy="256032"/>
          </a:xfrm>
          <a:prstGeom prst="rect">
            <a:avLst/>
          </a:prstGeom>
          <a:noFill/>
        </p:spPr>
        <p:txBody>
          <a:bodyPr wrap="square" lIns="0" rIns="0" tIns="0" bIns="0" anchor="t">
            <a:spAutoFit/>
          </a:bodyPr>
          <a:lstStyle/>
          <a:p>
            <a:pPr algn="ctr">
              <a:spcAft>
                <a:spcPts val="0"/>
              </a:spcAft>
            </a:pPr>
            <a:r>
              <a:rPr sz="1200" b="1" i="0">
                <a:solidFill>
                  <a:srgbClr val="1A1A1A"/>
                </a:solidFill>
                <a:latin typeface="Calibri"/>
              </a:rPr>
              <a:t>12 macrostates</a:t>
            </a:r>
          </a:p>
        </p:txBody>
      </p:sp>
      <p:pic>
        <p:nvPicPr>
          <p:cNvPr id="5" name="Picture 4" descr="scvelo_vk0.8_ck0.2_macrostates.png"/>
          <p:cNvPicPr>
            <a:picLocks noChangeAspect="1"/>
          </p:cNvPicPr>
          <p:nvPr/>
        </p:nvPicPr>
        <p:blipFill>
          <a:blip r:embed="rId2"/>
          <a:stretch>
            <a:fillRect/>
          </a:stretch>
        </p:blipFill>
        <p:spPr>
          <a:xfrm>
            <a:off x="640080" y="1847088"/>
            <a:ext cx="3541045" cy="3136884"/>
          </a:xfrm>
          <a:prstGeom prst="rect">
            <a:avLst/>
          </a:prstGeom>
        </p:spPr>
      </p:pic>
      <p:sp>
        <p:nvSpPr>
          <p:cNvPr id="6" name="TextBox 5"/>
          <p:cNvSpPr txBox="1"/>
          <p:nvPr/>
        </p:nvSpPr>
        <p:spPr>
          <a:xfrm>
            <a:off x="4345718" y="1572768"/>
            <a:ext cx="3541046" cy="256032"/>
          </a:xfrm>
          <a:prstGeom prst="rect">
            <a:avLst/>
          </a:prstGeom>
          <a:noFill/>
        </p:spPr>
        <p:txBody>
          <a:bodyPr wrap="square" lIns="0" rIns="0" tIns="0" bIns="0" anchor="t">
            <a:spAutoFit/>
          </a:bodyPr>
          <a:lstStyle/>
          <a:p>
            <a:pPr algn="ctr">
              <a:spcAft>
                <a:spcPts val="0"/>
              </a:spcAft>
            </a:pPr>
            <a:r>
              <a:rPr sz="1200" b="1" i="0">
                <a:solidFill>
                  <a:srgbClr val="1A1A1A"/>
                </a:solidFill>
                <a:latin typeface="Calibri"/>
              </a:rPr>
              <a:t>4 terminal states</a:t>
            </a:r>
          </a:p>
        </p:txBody>
      </p:sp>
      <p:pic>
        <p:nvPicPr>
          <p:cNvPr id="7" name="Picture 6" descr="scvelo_vk0.8_ck0.2_terminal.png"/>
          <p:cNvPicPr>
            <a:picLocks noChangeAspect="1"/>
          </p:cNvPicPr>
          <p:nvPr/>
        </p:nvPicPr>
        <p:blipFill>
          <a:blip r:embed="rId3"/>
          <a:stretch>
            <a:fillRect/>
          </a:stretch>
        </p:blipFill>
        <p:spPr>
          <a:xfrm>
            <a:off x="4345718" y="1847088"/>
            <a:ext cx="3541045" cy="3136884"/>
          </a:xfrm>
          <a:prstGeom prst="rect">
            <a:avLst/>
          </a:prstGeom>
        </p:spPr>
      </p:pic>
      <p:sp>
        <p:nvSpPr>
          <p:cNvPr id="8" name="TextBox 7"/>
          <p:cNvSpPr txBox="1"/>
          <p:nvPr/>
        </p:nvSpPr>
        <p:spPr>
          <a:xfrm>
            <a:off x="8051356" y="1572768"/>
            <a:ext cx="3500259" cy="256032"/>
          </a:xfrm>
          <a:prstGeom prst="rect">
            <a:avLst/>
          </a:prstGeom>
          <a:noFill/>
        </p:spPr>
        <p:txBody>
          <a:bodyPr wrap="square" lIns="0" rIns="0" tIns="0" bIns="0" anchor="t">
            <a:spAutoFit/>
          </a:bodyPr>
          <a:lstStyle/>
          <a:p>
            <a:pPr algn="ctr">
              <a:spcAft>
                <a:spcPts val="0"/>
              </a:spcAft>
            </a:pPr>
            <a:r>
              <a:rPr sz="1200" b="1" i="0">
                <a:solidFill>
                  <a:srgbClr val="1A1A1A"/>
                </a:solidFill>
                <a:latin typeface="Calibri"/>
              </a:rPr>
              <a:t>initial state</a:t>
            </a:r>
          </a:p>
        </p:txBody>
      </p:sp>
      <p:pic>
        <p:nvPicPr>
          <p:cNvPr id="9" name="Picture 8" descr="scvelo_vk0.8_ck0.2_initial.png"/>
          <p:cNvPicPr>
            <a:picLocks noChangeAspect="1"/>
          </p:cNvPicPr>
          <p:nvPr/>
        </p:nvPicPr>
        <p:blipFill>
          <a:blip r:embed="rId4"/>
          <a:stretch>
            <a:fillRect/>
          </a:stretch>
        </p:blipFill>
        <p:spPr>
          <a:xfrm>
            <a:off x="8051356" y="1847088"/>
            <a:ext cx="3500258" cy="3136884"/>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11535" cy="566928"/>
          </a:xfrm>
          <a:prstGeom prst="rect">
            <a:avLst/>
          </a:prstGeom>
          <a:noFill/>
        </p:spPr>
        <p:txBody>
          <a:bodyPr wrap="square" lIns="0" rIns="0" tIns="0" bIns="0" anchor="t">
            <a:spAutoFit/>
          </a:bodyPr>
          <a:lstStyle/>
          <a:p>
            <a:pPr algn="l">
              <a:spcAft>
                <a:spcPts val="0"/>
              </a:spcAft>
            </a:pPr>
            <a:r>
              <a:rPr sz="2600" b="1" i="0">
                <a:solidFill>
                  <a:srgbClr val="1A1A1A"/>
                </a:solidFill>
                <a:latin typeface="Cambria"/>
              </a:rPr>
              <a:t>Do the kernel weightings agree?</a:t>
            </a:r>
          </a:p>
        </p:txBody>
      </p:sp>
      <p:sp>
        <p:nvSpPr>
          <p:cNvPr id="3" name="TextBox 2"/>
          <p:cNvSpPr txBox="1"/>
          <p:nvPr/>
        </p:nvSpPr>
        <p:spPr>
          <a:xfrm>
            <a:off x="640080" y="1152144"/>
            <a:ext cx="10911535" cy="310896"/>
          </a:xfrm>
          <a:prstGeom prst="rect">
            <a:avLst/>
          </a:prstGeom>
          <a:noFill/>
        </p:spPr>
        <p:txBody>
          <a:bodyPr wrap="square" lIns="0" rIns="0" tIns="0" bIns="0" anchor="t">
            <a:spAutoFit/>
          </a:bodyPr>
          <a:lstStyle/>
          <a:p>
            <a:pPr algn="l">
              <a:spcAft>
                <a:spcPts val="0"/>
              </a:spcAft>
            </a:pPr>
            <a:r>
              <a:rPr sz="1350" b="0" i="0">
                <a:solidFill>
                  <a:srgbClr val="6E6E6E"/>
                </a:solidFill>
                <a:latin typeface="Calibri"/>
              </a:rPr>
              <a:t>Pairwise fate-probability correlation across the seven completed runs, 0.44 to 0.99.</a:t>
            </a:r>
          </a:p>
        </p:txBody>
      </p:sp>
      <p:pic>
        <p:nvPicPr>
          <p:cNvPr id="4" name="Picture 3" descr="kernel_agreement.png"/>
          <p:cNvPicPr>
            <a:picLocks noChangeAspect="1"/>
          </p:cNvPicPr>
          <p:nvPr/>
        </p:nvPicPr>
        <p:blipFill>
          <a:blip r:embed="rId2"/>
          <a:stretch>
            <a:fillRect/>
          </a:stretch>
        </p:blipFill>
        <p:spPr>
          <a:xfrm>
            <a:off x="3349464" y="1572768"/>
            <a:ext cx="5492766" cy="4782312"/>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11535" cy="566928"/>
          </a:xfrm>
          <a:prstGeom prst="rect">
            <a:avLst/>
          </a:prstGeom>
          <a:noFill/>
        </p:spPr>
        <p:txBody>
          <a:bodyPr wrap="square" lIns="0" rIns="0" tIns="0" bIns="0" anchor="t">
            <a:spAutoFit/>
          </a:bodyPr>
          <a:lstStyle/>
          <a:p>
            <a:pPr algn="l">
              <a:spcAft>
                <a:spcPts val="0"/>
              </a:spcAft>
            </a:pPr>
            <a:r>
              <a:rPr sz="2600" b="1" i="0">
                <a:solidFill>
                  <a:srgbClr val="1A1A1A"/>
                </a:solidFill>
                <a:latin typeface="Cambria"/>
              </a:rPr>
              <a:t>Optimal transport places no state in the early stages</a:t>
            </a:r>
          </a:p>
        </p:txBody>
      </p:sp>
      <p:sp>
        <p:nvSpPr>
          <p:cNvPr id="3" name="TextBox 2"/>
          <p:cNvSpPr txBox="1"/>
          <p:nvPr/>
        </p:nvSpPr>
        <p:spPr>
          <a:xfrm>
            <a:off x="640080" y="1152144"/>
            <a:ext cx="10911535" cy="310896"/>
          </a:xfrm>
          <a:prstGeom prst="rect">
            <a:avLst/>
          </a:prstGeom>
          <a:noFill/>
        </p:spPr>
        <p:txBody>
          <a:bodyPr wrap="square" lIns="0" rIns="0" tIns="0" bIns="0" anchor="t">
            <a:spAutoFit/>
          </a:bodyPr>
          <a:lstStyle/>
          <a:p>
            <a:pPr algn="l">
              <a:spcAft>
                <a:spcPts val="0"/>
              </a:spcAft>
            </a:pPr>
            <a:r>
              <a:rPr sz="1350" b="0" i="0">
                <a:solidFill>
                  <a:srgbClr val="6E6E6E"/>
                </a:solidFill>
                <a:latin typeface="Calibri"/>
              </a:rPr>
              <a:t>Neither run puts a macrostate in E7.0 — every state sits at E9.0 or later.</a:t>
            </a:r>
          </a:p>
        </p:txBody>
      </p:sp>
      <p:sp>
        <p:nvSpPr>
          <p:cNvPr id="4" name="TextBox 3"/>
          <p:cNvSpPr txBox="1"/>
          <p:nvPr/>
        </p:nvSpPr>
        <p:spPr>
          <a:xfrm>
            <a:off x="927746" y="1572768"/>
            <a:ext cx="5088808" cy="256032"/>
          </a:xfrm>
          <a:prstGeom prst="rect">
            <a:avLst/>
          </a:prstGeom>
          <a:noFill/>
        </p:spPr>
        <p:txBody>
          <a:bodyPr wrap="square" lIns="0" rIns="0" tIns="0" bIns="0" anchor="t">
            <a:spAutoFit/>
          </a:bodyPr>
          <a:lstStyle/>
          <a:p>
            <a:pPr algn="ctr">
              <a:spcAft>
                <a:spcPts val="0"/>
              </a:spcAft>
            </a:pPr>
            <a:r>
              <a:rPr sz="1200" b="1" i="0">
                <a:solidFill>
                  <a:srgbClr val="1A1A1A"/>
                </a:solidFill>
                <a:latin typeface="Calibri"/>
              </a:rPr>
              <a:t>devbrain, moscot only</a:t>
            </a:r>
          </a:p>
        </p:txBody>
      </p:sp>
      <p:pic>
        <p:nvPicPr>
          <p:cNvPr id="5" name="Picture 4" descr="scvelo_realtime_moscot_macrostates.png"/>
          <p:cNvPicPr>
            <a:picLocks noChangeAspect="1"/>
          </p:cNvPicPr>
          <p:nvPr/>
        </p:nvPicPr>
        <p:blipFill>
          <a:blip r:embed="rId2"/>
          <a:stretch>
            <a:fillRect/>
          </a:stretch>
        </p:blipFill>
        <p:spPr>
          <a:xfrm>
            <a:off x="927746" y="1847088"/>
            <a:ext cx="5088809" cy="4507992"/>
          </a:xfrm>
          <a:prstGeom prst="rect">
            <a:avLst/>
          </a:prstGeom>
        </p:spPr>
      </p:pic>
      <p:sp>
        <p:nvSpPr>
          <p:cNvPr id="6" name="TextBox 5"/>
          <p:cNvSpPr txBox="1"/>
          <p:nvPr/>
        </p:nvSpPr>
        <p:spPr>
          <a:xfrm>
            <a:off x="6181147" y="1572768"/>
            <a:ext cx="5082800" cy="256032"/>
          </a:xfrm>
          <a:prstGeom prst="rect">
            <a:avLst/>
          </a:prstGeom>
          <a:noFill/>
        </p:spPr>
        <p:txBody>
          <a:bodyPr wrap="square" lIns="0" rIns="0" tIns="0" bIns="0" anchor="t">
            <a:spAutoFit/>
          </a:bodyPr>
          <a:lstStyle/>
          <a:p>
            <a:pPr algn="ctr">
              <a:spcAft>
                <a:spcPts val="0"/>
              </a:spcAft>
            </a:pPr>
            <a:r>
              <a:rPr sz="1200" b="1" i="0">
                <a:solidFill>
                  <a:srgbClr val="1A1A1A"/>
                </a:solidFill>
                <a:latin typeface="Calibri"/>
              </a:rPr>
              <a:t>joint, moscot + connectivity</a:t>
            </a:r>
          </a:p>
        </p:txBody>
      </p:sp>
      <p:pic>
        <p:nvPicPr>
          <p:cNvPr id="7" name="Picture 6" descr="scvelo_joint_rtk0.5_ck0.5_macrostates.png"/>
          <p:cNvPicPr>
            <a:picLocks noChangeAspect="1"/>
          </p:cNvPicPr>
          <p:nvPr/>
        </p:nvPicPr>
        <p:blipFill>
          <a:blip r:embed="rId3"/>
          <a:stretch>
            <a:fillRect/>
          </a:stretch>
        </p:blipFill>
        <p:spPr>
          <a:xfrm>
            <a:off x="6181147" y="1847088"/>
            <a:ext cx="5082801" cy="4507992"/>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7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965960"/>
            <a:ext cx="1828800" cy="1280160"/>
          </a:xfrm>
          <a:prstGeom prst="rect">
            <a:avLst/>
          </a:prstGeom>
          <a:noFill/>
        </p:spPr>
        <p:txBody>
          <a:bodyPr wrap="square" lIns="0" rIns="0" tIns="0" bIns="0" anchor="t">
            <a:spAutoFit/>
          </a:bodyPr>
          <a:lstStyle/>
          <a:p>
            <a:pPr algn="l">
              <a:spcAft>
                <a:spcPts val="0"/>
              </a:spcAft>
            </a:pPr>
            <a:r>
              <a:rPr sz="7800" b="1" i="0">
                <a:solidFill>
                  <a:srgbClr val="99000D"/>
                </a:solidFill>
                <a:latin typeface="Cambria"/>
              </a:rPr>
              <a:t>3</a:t>
            </a:r>
          </a:p>
        </p:txBody>
      </p:sp>
      <p:sp>
        <p:nvSpPr>
          <p:cNvPr id="4" name="TextBox 3"/>
          <p:cNvSpPr txBox="1"/>
          <p:nvPr/>
        </p:nvSpPr>
        <p:spPr>
          <a:xfrm>
            <a:off x="822960" y="3218688"/>
            <a:ext cx="10424160" cy="1097280"/>
          </a:xfrm>
          <a:prstGeom prst="rect">
            <a:avLst/>
          </a:prstGeom>
          <a:noFill/>
        </p:spPr>
        <p:txBody>
          <a:bodyPr wrap="square" lIns="0" rIns="0" tIns="0" bIns="0" anchor="t">
            <a:spAutoFit/>
          </a:bodyPr>
          <a:lstStyle/>
          <a:p>
            <a:pPr algn="l">
              <a:lnSpc>
                <a:spcPct val="112000"/>
              </a:lnSpc>
              <a:spcAft>
                <a:spcPts val="0"/>
              </a:spcAft>
            </a:pPr>
            <a:r>
              <a:rPr sz="3000" b="1" i="0">
                <a:solidFill>
                  <a:srgbClr val="FFFFFF"/>
                </a:solidFill>
                <a:latin typeface="Cambria"/>
              </a:rPr>
              <a:t>Assumptions and open problems</a:t>
            </a:r>
          </a:p>
        </p:txBody>
      </p:sp>
      <p:sp>
        <p:nvSpPr>
          <p:cNvPr id="5" name="TextBox 4"/>
          <p:cNvSpPr txBox="1"/>
          <p:nvPr/>
        </p:nvSpPr>
        <p:spPr>
          <a:xfrm>
            <a:off x="822960" y="4407408"/>
            <a:ext cx="9509760" cy="822960"/>
          </a:xfrm>
          <a:prstGeom prst="rect">
            <a:avLst/>
          </a:prstGeom>
          <a:noFill/>
        </p:spPr>
        <p:txBody>
          <a:bodyPr wrap="square" lIns="0" rIns="0" tIns="0" bIns="0" anchor="t">
            <a:spAutoFit/>
          </a:bodyPr>
          <a:lstStyle/>
          <a:p>
            <a:pPr algn="l">
              <a:lnSpc>
                <a:spcPct val="130000"/>
              </a:lnSpc>
              <a:spcAft>
                <a:spcPts val="0"/>
              </a:spcAft>
            </a:pPr>
            <a:r>
              <a:rPr sz="1500" b="0" i="0">
                <a:solidFill>
                  <a:srgbClr val="FCC9B4"/>
                </a:solidFill>
                <a:latin typeface="Calibri"/>
              </a:rPr>
              <a:t>What the analysis currently takes for granted, and where that could bite.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11535" cy="914400"/>
          </a:xfrm>
          <a:prstGeom prst="rect">
            <a:avLst/>
          </a:prstGeom>
          <a:noFill/>
        </p:spPr>
        <p:txBody>
          <a:bodyPr wrap="square" lIns="0" rIns="0" tIns="0" bIns="0" anchor="t">
            <a:spAutoFit/>
          </a:bodyPr>
          <a:lstStyle/>
          <a:p>
            <a:pPr algn="l">
              <a:lnSpc>
                <a:spcPct val="112000"/>
              </a:lnSpc>
              <a:spcAft>
                <a:spcPts val="600"/>
              </a:spcAft>
            </a:pPr>
            <a:r>
              <a:rPr sz="2600" b="1" i="0">
                <a:solidFill>
                  <a:srgbClr val="1A1A1A"/>
                </a:solidFill>
                <a:latin typeface="Cambria"/>
              </a:rPr>
              <a:t>What this analysis assumes</a:t>
            </a:r>
          </a:p>
        </p:txBody>
      </p:sp>
      <p:sp>
        <p:nvSpPr>
          <p:cNvPr id="3" name="TextBox 2"/>
          <p:cNvSpPr txBox="1"/>
          <p:nvPr/>
        </p:nvSpPr>
        <p:spPr>
          <a:xfrm>
            <a:off x="640080" y="1353312"/>
            <a:ext cx="10911535" cy="329184"/>
          </a:xfrm>
          <a:prstGeom prst="rect">
            <a:avLst/>
          </a:prstGeom>
          <a:noFill/>
        </p:spPr>
        <p:txBody>
          <a:bodyPr wrap="square" lIns="0" rIns="0" tIns="0" bIns="0" anchor="t">
            <a:spAutoFit/>
          </a:bodyPr>
          <a:lstStyle/>
          <a:p>
            <a:pPr algn="l">
              <a:spcAft>
                <a:spcPts val="600"/>
              </a:spcAft>
            </a:pPr>
            <a:r>
              <a:rPr sz="1350" b="0" i="1">
                <a:solidFill>
                  <a:srgbClr val="6E6E6E"/>
                </a:solidFill>
                <a:latin typeface="Calibri"/>
              </a:rPr>
              <a:t>Each of these is load-bearing — if one is wrong, the conclusions move</a:t>
            </a:r>
          </a:p>
        </p:txBody>
      </p:sp>
      <p:graphicFrame>
        <p:nvGraphicFramePr>
          <p:cNvPr id="4" name="Table 3"/>
          <p:cNvGraphicFramePr>
            <a:graphicFrameLocks noGrp="1"/>
          </p:cNvGraphicFramePr>
          <p:nvPr/>
        </p:nvGraphicFramePr>
        <p:xfrm>
          <a:off x="640080" y="1874519"/>
          <a:ext cx="10881360" cy="3950208"/>
        </p:xfrm>
        <a:graphic>
          <a:graphicData uri="http://schemas.openxmlformats.org/drawingml/2006/table">
            <a:tbl>
              <a:tblPr firstRow="1">
                <a:tableStyleId>{5C22544A-7EE6-4342-B048-85BDC9FD1C3A}</a:tableStyleId>
              </a:tblPr>
              <a:tblGrid>
                <a:gridCol w="4480560"/>
                <a:gridCol w="3291840"/>
                <a:gridCol w="3108960"/>
              </a:tblGrid>
              <a:tr h="384048">
                <a:tc>
                  <a:txBody>
                    <a:bodyPr wrap="square"/>
                    <a:lstStyle/>
                    <a:p>
                      <a:pPr algn="l"/>
                      <a:r>
                        <a:rPr sz="1150" b="1">
                          <a:solidFill>
                            <a:srgbClr val="FFFFFF"/>
                          </a:solidFill>
                          <a:latin typeface="Calibri"/>
                        </a:rPr>
                        <a:t>Assumption</a:t>
                      </a:r>
                    </a:p>
                  </a:txBody>
                  <a:tcPr marL="64008" marR="64008" marT="18288" marB="18288" anchor="ctr">
                    <a:solidFill>
                      <a:srgbClr val="1C1719"/>
                    </a:solidFill>
                  </a:tcPr>
                </a:tc>
                <a:tc>
                  <a:txBody>
                    <a:bodyPr wrap="square"/>
                    <a:lstStyle/>
                    <a:p>
                      <a:pPr algn="ctr"/>
                      <a:r>
                        <a:rPr sz="1150" b="1">
                          <a:solidFill>
                            <a:srgbClr val="FFFFFF"/>
                          </a:solidFill>
                          <a:latin typeface="Calibri"/>
                        </a:rPr>
                        <a:t>Why we need it</a:t>
                      </a:r>
                    </a:p>
                  </a:txBody>
                  <a:tcPr marL="64008" marR="64008" marT="18288" marB="18288" anchor="ctr">
                    <a:solidFill>
                      <a:srgbClr val="1C1719"/>
                    </a:solidFill>
                  </a:tcPr>
                </a:tc>
                <a:tc>
                  <a:txBody>
                    <a:bodyPr wrap="square"/>
                    <a:lstStyle/>
                    <a:p>
                      <a:pPr algn="ctr"/>
                      <a:r>
                        <a:rPr sz="1150" b="1">
                          <a:solidFill>
                            <a:srgbClr val="FFFFFF"/>
                          </a:solidFill>
                          <a:latin typeface="Calibri"/>
                        </a:rPr>
                        <a:t>How safe</a:t>
                      </a:r>
                    </a:p>
                  </a:txBody>
                  <a:tcPr marL="64008" marR="64008" marT="18288" marB="18288" anchor="ctr">
                    <a:solidFill>
                      <a:srgbClr val="1C1719"/>
                    </a:solidFill>
                  </a:tcPr>
                </a:tc>
              </a:tr>
              <a:tr h="713232">
                <a:tc>
                  <a:txBody>
                    <a:bodyPr wrap="square"/>
                    <a:lstStyle/>
                    <a:p>
                      <a:pPr algn="l"/>
                      <a:r>
                        <a:rPr sz="1200" b="0">
                          <a:solidFill>
                            <a:srgbClr val="1A1A1A"/>
                          </a:solidFill>
                          <a:latin typeface="Calibri"/>
                        </a:rPr>
                        <a:t>Harmony on dataset removes platform,
not biology</a:t>
                      </a:r>
                    </a:p>
                  </a:txBody>
                  <a:tcPr marL="64008" marR="64008" marT="18288" marB="18288" anchor="ctr">
                    <a:solidFill>
                      <a:srgbClr val="FFFFFF"/>
                    </a:solidFill>
                  </a:tcPr>
                </a:tc>
                <a:tc>
                  <a:txBody>
                    <a:bodyPr wrap="square"/>
                    <a:lstStyle/>
                    <a:p>
                      <a:pPr algn="ctr"/>
                      <a:r>
                        <a:rPr sz="1200" b="0">
                          <a:solidFill>
                            <a:srgbClr val="1A1A1A"/>
                          </a:solidFill>
                          <a:latin typeface="Calibri"/>
                        </a:rPr>
                        <a:t>Only way to put two chemistries
in one graph</a:t>
                      </a:r>
                    </a:p>
                  </a:txBody>
                  <a:tcPr marL="64008" marR="64008" marT="18288" marB="18288" anchor="ctr">
                    <a:solidFill>
                      <a:srgbClr val="FFFFFF"/>
                    </a:solidFill>
                  </a:tcPr>
                </a:tc>
                <a:tc>
                  <a:txBody>
                    <a:bodyPr wrap="square"/>
                    <a:lstStyle/>
                    <a:p>
                      <a:pPr algn="ctr"/>
                      <a:r>
                        <a:rPr sz="1200" b="1">
                          <a:solidFill>
                            <a:srgbClr val="1A1A1A"/>
                          </a:solidFill>
                          <a:latin typeface="Calibri"/>
                        </a:rPr>
                        <a:t>Weakest link</a:t>
                      </a:r>
                    </a:p>
                  </a:txBody>
                  <a:tcPr marL="64008" marR="64008" marT="18288" marB="18288" anchor="ctr">
                    <a:solidFill>
                      <a:srgbClr val="FCC9B4"/>
                    </a:solidFill>
                  </a:tcPr>
                </a:tc>
              </a:tr>
              <a:tr h="713232">
                <a:tc>
                  <a:txBody>
                    <a:bodyPr wrap="square"/>
                    <a:lstStyle/>
                    <a:p>
                      <a:pPr algn="l"/>
                      <a:r>
                        <a:rPr sz="1200" b="0">
                          <a:solidFill>
                            <a:srgbClr val="1A1A1A"/>
                          </a:solidFill>
                          <a:latin typeface="Calibri"/>
                        </a:rPr>
                        <a:t>Brooks E7.5 is a valid intermediate
between La Manno E7.0 and E8.0</a:t>
                      </a:r>
                    </a:p>
                  </a:txBody>
                  <a:tcPr marL="64008" marR="64008" marT="18288" marB="18288" anchor="ctr">
                    <a:solidFill>
                      <a:srgbClr val="F7F2F1"/>
                    </a:solidFill>
                  </a:tcPr>
                </a:tc>
                <a:tc>
                  <a:txBody>
                    <a:bodyPr wrap="square"/>
                    <a:lstStyle/>
                    <a:p>
                      <a:pPr algn="ctr"/>
                      <a:r>
                        <a:rPr sz="1200" b="0">
                          <a:solidFill>
                            <a:srgbClr val="1A1A1A"/>
                          </a:solidFill>
                          <a:latin typeface="Calibri"/>
                        </a:rPr>
                        <a:t>The bridge depends on it</a:t>
                      </a:r>
                    </a:p>
                  </a:txBody>
                  <a:tcPr marL="64008" marR="64008" marT="18288" marB="18288" anchor="ctr">
                    <a:solidFill>
                      <a:srgbClr val="F7F2F1"/>
                    </a:solidFill>
                  </a:tcPr>
                </a:tc>
                <a:tc>
                  <a:txBody>
                    <a:bodyPr wrap="square"/>
                    <a:lstStyle/>
                    <a:p>
                      <a:pPr algn="ctr"/>
                      <a:r>
                        <a:rPr sz="1200" b="1">
                          <a:solidFill>
                            <a:srgbClr val="1A1A1A"/>
                          </a:solidFill>
                          <a:latin typeface="Calibri"/>
                        </a:rPr>
                        <a:t>Untested</a:t>
                      </a:r>
                    </a:p>
                  </a:txBody>
                  <a:tcPr marL="64008" marR="64008" marT="18288" marB="18288" anchor="ctr">
                    <a:solidFill>
                      <a:srgbClr val="FCC9B4"/>
                    </a:solidFill>
                  </a:tcPr>
                </a:tc>
              </a:tr>
              <a:tr h="713232">
                <a:tc>
                  <a:txBody>
                    <a:bodyPr wrap="square"/>
                    <a:lstStyle/>
                    <a:p>
                      <a:pPr algn="l"/>
                      <a:r>
                        <a:rPr sz="1200" b="0">
                          <a:solidFill>
                            <a:srgbClr val="1A1A1A"/>
                          </a:solidFill>
                          <a:latin typeface="Calibri"/>
                        </a:rPr>
                        <a:t>Splicing ratios from our velocyto run
match the authors'</a:t>
                      </a:r>
                    </a:p>
                  </a:txBody>
                  <a:tcPr marL="64008" marR="64008" marT="18288" marB="18288" anchor="ctr">
                    <a:solidFill>
                      <a:srgbClr val="FFFFFF"/>
                    </a:solidFill>
                  </a:tcPr>
                </a:tc>
                <a:tc>
                  <a:txBody>
                    <a:bodyPr wrap="square"/>
                    <a:lstStyle/>
                    <a:p>
                      <a:pPr algn="ctr"/>
                      <a:r>
                        <a:rPr sz="1200" b="0">
                          <a:solidFill>
                            <a:srgbClr val="1A1A1A"/>
                          </a:solidFill>
                          <a:latin typeface="Calibri"/>
                        </a:rPr>
                        <a:t>Velocity kernel depends on it</a:t>
                      </a:r>
                    </a:p>
                  </a:txBody>
                  <a:tcPr marL="64008" marR="64008" marT="18288" marB="18288" anchor="ctr">
                    <a:solidFill>
                      <a:srgbClr val="FFFFFF"/>
                    </a:solidFill>
                  </a:tcPr>
                </a:tc>
                <a:tc>
                  <a:txBody>
                    <a:bodyPr wrap="square"/>
                    <a:lstStyle/>
                    <a:p>
                      <a:pPr algn="ctr"/>
                      <a:r>
                        <a:rPr sz="1200" b="0">
                          <a:solidFill>
                            <a:srgbClr val="1A1A1A"/>
                          </a:solidFill>
                          <a:latin typeface="Calibri"/>
                        </a:rPr>
                        <a:t>Checked: 19.1 vs 19.3%</a:t>
                      </a:r>
                    </a:p>
                  </a:txBody>
                  <a:tcPr marL="64008" marR="64008" marT="18288" marB="18288" anchor="ctr">
                    <a:solidFill>
                      <a:srgbClr val="FFFFFF"/>
                    </a:solidFill>
                  </a:tcPr>
                </a:tc>
              </a:tr>
              <a:tr h="713232">
                <a:tc>
                  <a:txBody>
                    <a:bodyPr wrap="square"/>
                    <a:lstStyle/>
                    <a:p>
                      <a:pPr algn="l"/>
                      <a:r>
                        <a:rPr sz="1200" b="0">
                          <a:solidFill>
                            <a:srgbClr val="1A1A1A"/>
                          </a:solidFill>
                          <a:latin typeface="Calibri"/>
                        </a:rPr>
                        <a:t>30-cell macrostate anchors represent
their surrounding region</a:t>
                      </a:r>
                    </a:p>
                  </a:txBody>
                  <a:tcPr marL="64008" marR="64008" marT="18288" marB="18288" anchor="ctr">
                    <a:solidFill>
                      <a:srgbClr val="F7F2F1"/>
                    </a:solidFill>
                  </a:tcPr>
                </a:tc>
                <a:tc>
                  <a:txBody>
                    <a:bodyPr wrap="square"/>
                    <a:lstStyle/>
                    <a:p>
                      <a:pPr algn="ctr"/>
                      <a:r>
                        <a:rPr sz="1200" b="0">
                          <a:solidFill>
                            <a:srgbClr val="1A1A1A"/>
                          </a:solidFill>
                          <a:latin typeface="Calibri"/>
                        </a:rPr>
                        <a:t>CellRank's default</a:t>
                      </a:r>
                    </a:p>
                  </a:txBody>
                  <a:tcPr marL="64008" marR="64008" marT="18288" marB="18288" anchor="ctr">
                    <a:solidFill>
                      <a:srgbClr val="F7F2F1"/>
                    </a:solidFill>
                  </a:tcPr>
                </a:tc>
                <a:tc>
                  <a:txBody>
                    <a:bodyPr wrap="square"/>
                    <a:lstStyle/>
                    <a:p>
                      <a:pPr algn="ctr"/>
                      <a:r>
                        <a:rPr sz="1200" b="1">
                          <a:solidFill>
                            <a:srgbClr val="1A1A1A"/>
                          </a:solidFill>
                          <a:latin typeface="Calibri"/>
                        </a:rPr>
                        <a:t>Unexamined</a:t>
                      </a:r>
                    </a:p>
                  </a:txBody>
                  <a:tcPr marL="64008" marR="64008" marT="18288" marB="18288" anchor="ctr">
                    <a:solidFill>
                      <a:srgbClr val="FCC9B4"/>
                    </a:solidFill>
                  </a:tcPr>
                </a:tc>
              </a:tr>
              <a:tr h="713232">
                <a:tc>
                  <a:txBody>
                    <a:bodyPr wrap="square"/>
                    <a:lstStyle/>
                    <a:p>
                      <a:pPr algn="l"/>
                      <a:r>
                        <a:rPr sz="1200" b="0">
                          <a:solidFill>
                            <a:srgbClr val="1A1A1A"/>
                          </a:solidFill>
                          <a:latin typeface="Calibri"/>
                        </a:rPr>
                        <a:t>Stage, not dissection, drives the
transitions we recover</a:t>
                      </a:r>
                    </a:p>
                  </a:txBody>
                  <a:tcPr marL="64008" marR="64008" marT="18288" marB="18288" anchor="ctr">
                    <a:solidFill>
                      <a:srgbClr val="FFFFFF"/>
                    </a:solidFill>
                  </a:tcPr>
                </a:tc>
                <a:tc>
                  <a:txBody>
                    <a:bodyPr wrap="square"/>
                    <a:lstStyle/>
                    <a:p>
                      <a:pPr algn="ctr"/>
                      <a:r>
                        <a:rPr sz="1200" b="0">
                          <a:solidFill>
                            <a:srgbClr val="1A1A1A"/>
                          </a:solidFill>
                          <a:latin typeface="Calibri"/>
                        </a:rPr>
                        <a:t>The whole trajectory reading</a:t>
                      </a:r>
                    </a:p>
                  </a:txBody>
                  <a:tcPr marL="64008" marR="64008" marT="18288" marB="18288" anchor="ctr">
                    <a:solidFill>
                      <a:srgbClr val="FFFFFF"/>
                    </a:solidFill>
                  </a:tcPr>
                </a:tc>
                <a:tc>
                  <a:txBody>
                    <a:bodyPr wrap="square"/>
                    <a:lstStyle/>
                    <a:p>
                      <a:pPr algn="ctr"/>
                      <a:r>
                        <a:rPr sz="1200" b="1">
                          <a:solidFill>
                            <a:srgbClr val="FFFFFF"/>
                          </a:solidFill>
                          <a:latin typeface="Calibri"/>
                        </a:rPr>
                        <a:t>Known to be false</a:t>
                      </a:r>
                    </a:p>
                  </a:txBody>
                  <a:tcPr marL="64008" marR="64008" marT="18288" marB="18288" anchor="ctr">
                    <a:solidFill>
                      <a:srgbClr val="99000D"/>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7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11535" cy="914400"/>
          </a:xfrm>
          <a:prstGeom prst="rect">
            <a:avLst/>
          </a:prstGeom>
          <a:noFill/>
        </p:spPr>
        <p:txBody>
          <a:bodyPr wrap="square" lIns="0" rIns="0" tIns="0" bIns="0" anchor="t">
            <a:spAutoFit/>
          </a:bodyPr>
          <a:lstStyle/>
          <a:p>
            <a:pPr algn="l">
              <a:lnSpc>
                <a:spcPct val="112000"/>
              </a:lnSpc>
              <a:spcAft>
                <a:spcPts val="600"/>
              </a:spcAft>
            </a:pPr>
            <a:r>
              <a:rPr sz="2600" b="1" i="0">
                <a:solidFill>
                  <a:srgbClr val="FFFFFF"/>
                </a:solidFill>
                <a:latin typeface="Cambria"/>
              </a:rPr>
              <a:t>Open problems, in the order they matter</a:t>
            </a:r>
          </a:p>
        </p:txBody>
      </p:sp>
      <p:sp>
        <p:nvSpPr>
          <p:cNvPr id="4" name="TextBox 3"/>
          <p:cNvSpPr txBox="1"/>
          <p:nvPr/>
        </p:nvSpPr>
        <p:spPr>
          <a:xfrm>
            <a:off x="640080" y="1353312"/>
            <a:ext cx="10911535" cy="329184"/>
          </a:xfrm>
          <a:prstGeom prst="rect">
            <a:avLst/>
          </a:prstGeom>
          <a:noFill/>
        </p:spPr>
        <p:txBody>
          <a:bodyPr wrap="square" lIns="0" rIns="0" tIns="0" bIns="0" anchor="t">
            <a:spAutoFit/>
          </a:bodyPr>
          <a:lstStyle/>
          <a:p>
            <a:pPr algn="l">
              <a:spcAft>
                <a:spcPts val="600"/>
              </a:spcAft>
            </a:pPr>
            <a:r>
              <a:rPr sz="1350" b="0" i="1">
                <a:solidFill>
                  <a:srgbClr val="9A9A9A"/>
                </a:solidFill>
                <a:latin typeface="Calibri"/>
              </a:rPr>
              <a:t>Three of the four are structural rather than bugs</a:t>
            </a:r>
          </a:p>
        </p:txBody>
      </p:sp>
      <p:sp>
        <p:nvSpPr>
          <p:cNvPr id="5" name="Rounded Rectangle 4"/>
          <p:cNvSpPr/>
          <p:nvPr/>
        </p:nvSpPr>
        <p:spPr>
          <a:xfrm>
            <a:off x="640080" y="1755648"/>
            <a:ext cx="10881360" cy="932688"/>
          </a:xfrm>
          <a:prstGeom prst="roundRect">
            <a:avLst>
              <a:gd name="adj" fmla="val 6000"/>
            </a:avLst>
          </a:prstGeom>
          <a:solidFill>
            <a:srgbClr val="2A23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65376"/>
            <a:ext cx="411480" cy="411480"/>
          </a:xfrm>
          <a:prstGeom prst="rect">
            <a:avLst/>
          </a:prstGeom>
          <a:noFill/>
        </p:spPr>
        <p:txBody>
          <a:bodyPr wrap="square" lIns="0" rIns="0" tIns="0" bIns="0" anchor="t">
            <a:spAutoFit/>
          </a:bodyPr>
          <a:lstStyle/>
          <a:p>
            <a:pPr algn="l">
              <a:spcAft>
                <a:spcPts val="0"/>
              </a:spcAft>
            </a:pPr>
            <a:r>
              <a:rPr sz="2200" b="1" i="0">
                <a:solidFill>
                  <a:srgbClr val="E32F27"/>
                </a:solidFill>
                <a:latin typeface="Cambria"/>
              </a:rPr>
              <a:t>1</a:t>
            </a:r>
          </a:p>
        </p:txBody>
      </p:sp>
      <p:sp>
        <p:nvSpPr>
          <p:cNvPr id="7" name="TextBox 6"/>
          <p:cNvSpPr txBox="1"/>
          <p:nvPr/>
        </p:nvSpPr>
        <p:spPr>
          <a:xfrm>
            <a:off x="1371600" y="1856231"/>
            <a:ext cx="9966960" cy="274320"/>
          </a:xfrm>
          <a:prstGeom prst="rect">
            <a:avLst/>
          </a:prstGeom>
          <a:noFill/>
        </p:spPr>
        <p:txBody>
          <a:bodyPr wrap="square" lIns="0" rIns="0" tIns="0" bIns="0" anchor="t">
            <a:spAutoFit/>
          </a:bodyPr>
          <a:lstStyle/>
          <a:p>
            <a:pPr algn="l">
              <a:spcAft>
                <a:spcPts val="0"/>
              </a:spcAft>
            </a:pPr>
            <a:r>
              <a:rPr sz="1350" b="1" i="0">
                <a:solidFill>
                  <a:srgbClr val="FFFFFF"/>
                </a:solidFill>
                <a:latin typeface="Calibri"/>
              </a:rPr>
              <a:t>No metastable state at E7.0 under any transport kernel</a:t>
            </a:r>
          </a:p>
        </p:txBody>
      </p:sp>
      <p:sp>
        <p:nvSpPr>
          <p:cNvPr id="8" name="TextBox 7"/>
          <p:cNvSpPr txBox="1"/>
          <p:nvPr/>
        </p:nvSpPr>
        <p:spPr>
          <a:xfrm>
            <a:off x="1371600" y="2139696"/>
            <a:ext cx="9966960" cy="512064"/>
          </a:xfrm>
          <a:prstGeom prst="rect">
            <a:avLst/>
          </a:prstGeom>
          <a:noFill/>
        </p:spPr>
        <p:txBody>
          <a:bodyPr wrap="square" lIns="0" rIns="0" tIns="0" bIns="0" anchor="t">
            <a:spAutoFit/>
          </a:bodyPr>
          <a:lstStyle/>
          <a:p>
            <a:pPr algn="l">
              <a:lnSpc>
                <a:spcPct val="118000"/>
              </a:lnSpc>
              <a:spcAft>
                <a:spcPts val="0"/>
              </a:spcAft>
            </a:pPr>
            <a:r>
              <a:rPr sz="1050" b="0" i="0">
                <a:solidFill>
                  <a:srgbClr val="D0C9CB"/>
                </a:solidFill>
                <a:latin typeface="Calibri"/>
              </a:rPr>
              <a:t>Macrostates need stationary probability mass; a directed OT kernel gives early stages almost none, so they cannot be macrostates by construction. Root cell therefore unidentifiable.</a:t>
            </a:r>
          </a:p>
        </p:txBody>
      </p:sp>
      <p:sp>
        <p:nvSpPr>
          <p:cNvPr id="9" name="Rounded Rectangle 8"/>
          <p:cNvSpPr/>
          <p:nvPr/>
        </p:nvSpPr>
        <p:spPr>
          <a:xfrm>
            <a:off x="640080" y="2743200"/>
            <a:ext cx="10881360" cy="932688"/>
          </a:xfrm>
          <a:prstGeom prst="roundRect">
            <a:avLst>
              <a:gd name="adj" fmla="val 6000"/>
            </a:avLst>
          </a:prstGeom>
          <a:solidFill>
            <a:srgbClr val="2A23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852928"/>
            <a:ext cx="411480" cy="411480"/>
          </a:xfrm>
          <a:prstGeom prst="rect">
            <a:avLst/>
          </a:prstGeom>
          <a:noFill/>
        </p:spPr>
        <p:txBody>
          <a:bodyPr wrap="square" lIns="0" rIns="0" tIns="0" bIns="0" anchor="t">
            <a:spAutoFit/>
          </a:bodyPr>
          <a:lstStyle/>
          <a:p>
            <a:pPr algn="l">
              <a:spcAft>
                <a:spcPts val="0"/>
              </a:spcAft>
            </a:pPr>
            <a:r>
              <a:rPr sz="2200" b="1" i="0">
                <a:solidFill>
                  <a:srgbClr val="E32F27"/>
                </a:solidFill>
                <a:latin typeface="Cambria"/>
              </a:rPr>
              <a:t>2</a:t>
            </a:r>
          </a:p>
        </p:txBody>
      </p:sp>
      <p:sp>
        <p:nvSpPr>
          <p:cNvPr id="11" name="TextBox 10"/>
          <p:cNvSpPr txBox="1"/>
          <p:nvPr/>
        </p:nvSpPr>
        <p:spPr>
          <a:xfrm>
            <a:off x="1371600" y="2843784"/>
            <a:ext cx="9966960" cy="274320"/>
          </a:xfrm>
          <a:prstGeom prst="rect">
            <a:avLst/>
          </a:prstGeom>
          <a:noFill/>
        </p:spPr>
        <p:txBody>
          <a:bodyPr wrap="square" lIns="0" rIns="0" tIns="0" bIns="0" anchor="t">
            <a:spAutoFit/>
          </a:bodyPr>
          <a:lstStyle/>
          <a:p>
            <a:pPr algn="l">
              <a:spcAft>
                <a:spcPts val="0"/>
              </a:spcAft>
            </a:pPr>
            <a:r>
              <a:rPr sz="1350" b="1" i="0">
                <a:solidFill>
                  <a:srgbClr val="FFFFFF"/>
                </a:solidFill>
                <a:latin typeface="Calibri"/>
              </a:rPr>
              <a:t>Stage and dissection are confounded, irreparably in this design</a:t>
            </a:r>
          </a:p>
        </p:txBody>
      </p:sp>
      <p:sp>
        <p:nvSpPr>
          <p:cNvPr id="12" name="TextBox 11"/>
          <p:cNvSpPr txBox="1"/>
          <p:nvPr/>
        </p:nvSpPr>
        <p:spPr>
          <a:xfrm>
            <a:off x="1371600" y="3127248"/>
            <a:ext cx="9966960" cy="512064"/>
          </a:xfrm>
          <a:prstGeom prst="rect">
            <a:avLst/>
          </a:prstGeom>
          <a:noFill/>
        </p:spPr>
        <p:txBody>
          <a:bodyPr wrap="square" lIns="0" rIns="0" tIns="0" bIns="0" anchor="t">
            <a:spAutoFit/>
          </a:bodyPr>
          <a:lstStyle/>
          <a:p>
            <a:pPr algn="l">
              <a:lnSpc>
                <a:spcPct val="118000"/>
              </a:lnSpc>
              <a:spcAft>
                <a:spcPts val="0"/>
              </a:spcAft>
            </a:pPr>
            <a:r>
              <a:rPr sz="1050" b="0" i="0">
                <a:solidFill>
                  <a:srgbClr val="D0C9CB"/>
                </a:solidFill>
                <a:latin typeface="Calibri"/>
              </a:rPr>
              <a:t>Matching region across stages scores 0.9576; matching stage across regions 0.9579. Every E7.0 macrostate is also 100% whole-embryo. No sample breaks the tie.</a:t>
            </a:r>
          </a:p>
        </p:txBody>
      </p:sp>
      <p:sp>
        <p:nvSpPr>
          <p:cNvPr id="13" name="Rounded Rectangle 12"/>
          <p:cNvSpPr/>
          <p:nvPr/>
        </p:nvSpPr>
        <p:spPr>
          <a:xfrm>
            <a:off x="640080" y="3730752"/>
            <a:ext cx="10881360" cy="932688"/>
          </a:xfrm>
          <a:prstGeom prst="roundRect">
            <a:avLst>
              <a:gd name="adj" fmla="val 6000"/>
            </a:avLst>
          </a:prstGeom>
          <a:solidFill>
            <a:srgbClr val="2A23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840480"/>
            <a:ext cx="411480" cy="411480"/>
          </a:xfrm>
          <a:prstGeom prst="rect">
            <a:avLst/>
          </a:prstGeom>
          <a:noFill/>
        </p:spPr>
        <p:txBody>
          <a:bodyPr wrap="square" lIns="0" rIns="0" tIns="0" bIns="0" anchor="t">
            <a:spAutoFit/>
          </a:bodyPr>
          <a:lstStyle/>
          <a:p>
            <a:pPr algn="l">
              <a:spcAft>
                <a:spcPts val="0"/>
              </a:spcAft>
            </a:pPr>
            <a:r>
              <a:rPr sz="2200" b="1" i="0">
                <a:solidFill>
                  <a:srgbClr val="E32F27"/>
                </a:solidFill>
                <a:latin typeface="Cambria"/>
              </a:rPr>
              <a:t>3</a:t>
            </a:r>
          </a:p>
        </p:txBody>
      </p:sp>
      <p:sp>
        <p:nvSpPr>
          <p:cNvPr id="15" name="TextBox 14"/>
          <p:cNvSpPr txBox="1"/>
          <p:nvPr/>
        </p:nvSpPr>
        <p:spPr>
          <a:xfrm>
            <a:off x="1371600" y="3831336"/>
            <a:ext cx="9966960" cy="274320"/>
          </a:xfrm>
          <a:prstGeom prst="rect">
            <a:avLst/>
          </a:prstGeom>
          <a:noFill/>
        </p:spPr>
        <p:txBody>
          <a:bodyPr wrap="square" lIns="0" rIns="0" tIns="0" bIns="0" anchor="t">
            <a:spAutoFit/>
          </a:bodyPr>
          <a:lstStyle/>
          <a:p>
            <a:pPr algn="l">
              <a:spcAft>
                <a:spcPts val="0"/>
              </a:spcAft>
            </a:pPr>
            <a:r>
              <a:rPr sz="1350" b="1" i="0">
                <a:solidFill>
                  <a:srgbClr val="FFFFFF"/>
                </a:solidFill>
                <a:latin typeface="Calibri"/>
              </a:rPr>
              <a:t>Cross-platform integration may be removing real biology</a:t>
            </a:r>
          </a:p>
        </p:txBody>
      </p:sp>
      <p:sp>
        <p:nvSpPr>
          <p:cNvPr id="16" name="TextBox 15"/>
          <p:cNvSpPr txBox="1"/>
          <p:nvPr/>
        </p:nvSpPr>
        <p:spPr>
          <a:xfrm>
            <a:off x="1371600" y="4114800"/>
            <a:ext cx="9966960" cy="512064"/>
          </a:xfrm>
          <a:prstGeom prst="rect">
            <a:avLst/>
          </a:prstGeom>
          <a:noFill/>
        </p:spPr>
        <p:txBody>
          <a:bodyPr wrap="square" lIns="0" rIns="0" tIns="0" bIns="0" anchor="t">
            <a:spAutoFit/>
          </a:bodyPr>
          <a:lstStyle/>
          <a:p>
            <a:pPr algn="l">
              <a:lnSpc>
                <a:spcPct val="118000"/>
              </a:lnSpc>
              <a:spcAft>
                <a:spcPts val="0"/>
              </a:spcAft>
            </a:pPr>
            <a:r>
              <a:rPr sz="1050" b="0" i="0">
                <a:solidFill>
                  <a:srgbClr val="D0C9CB"/>
                </a:solidFill>
                <a:latin typeface="Calibri"/>
              </a:rPr>
              <a:t>Same-stage across datasets (Spearman 0.674) is less similar than three days of development within one dataset (0.870). Harmony cannot tell which part is chemistry.</a:t>
            </a:r>
          </a:p>
        </p:txBody>
      </p:sp>
      <p:sp>
        <p:nvSpPr>
          <p:cNvPr id="17" name="Rounded Rectangle 16"/>
          <p:cNvSpPr/>
          <p:nvPr/>
        </p:nvSpPr>
        <p:spPr>
          <a:xfrm>
            <a:off x="640080" y="4718304"/>
            <a:ext cx="10881360" cy="932688"/>
          </a:xfrm>
          <a:prstGeom prst="roundRect">
            <a:avLst>
              <a:gd name="adj" fmla="val 6000"/>
            </a:avLst>
          </a:prstGeom>
          <a:solidFill>
            <a:srgbClr val="2A23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828032"/>
            <a:ext cx="411480" cy="411480"/>
          </a:xfrm>
          <a:prstGeom prst="rect">
            <a:avLst/>
          </a:prstGeom>
          <a:noFill/>
        </p:spPr>
        <p:txBody>
          <a:bodyPr wrap="square" lIns="0" rIns="0" tIns="0" bIns="0" anchor="t">
            <a:spAutoFit/>
          </a:bodyPr>
          <a:lstStyle/>
          <a:p>
            <a:pPr algn="l">
              <a:spcAft>
                <a:spcPts val="0"/>
              </a:spcAft>
            </a:pPr>
            <a:r>
              <a:rPr sz="2200" b="1" i="0">
                <a:solidFill>
                  <a:srgbClr val="E32F27"/>
                </a:solidFill>
                <a:latin typeface="Cambria"/>
              </a:rPr>
              <a:t>4</a:t>
            </a:r>
          </a:p>
        </p:txBody>
      </p:sp>
      <p:sp>
        <p:nvSpPr>
          <p:cNvPr id="19" name="TextBox 18"/>
          <p:cNvSpPr txBox="1"/>
          <p:nvPr/>
        </p:nvSpPr>
        <p:spPr>
          <a:xfrm>
            <a:off x="1371600" y="4818888"/>
            <a:ext cx="9966960" cy="274320"/>
          </a:xfrm>
          <a:prstGeom prst="rect">
            <a:avLst/>
          </a:prstGeom>
          <a:noFill/>
        </p:spPr>
        <p:txBody>
          <a:bodyPr wrap="square" lIns="0" rIns="0" tIns="0" bIns="0" anchor="t">
            <a:spAutoFit/>
          </a:bodyPr>
          <a:lstStyle/>
          <a:p>
            <a:pPr algn="l">
              <a:spcAft>
                <a:spcPts val="0"/>
              </a:spcAft>
            </a:pPr>
            <a:r>
              <a:rPr sz="1350" b="1" i="0">
                <a:solidFill>
                  <a:srgbClr val="FFFFFF"/>
                </a:solidFill>
                <a:latin typeface="Calibri"/>
              </a:rPr>
              <a:t>Velocity alone fails to solve, and is the least trustworthy kernel</a:t>
            </a:r>
          </a:p>
        </p:txBody>
      </p:sp>
      <p:sp>
        <p:nvSpPr>
          <p:cNvPr id="20" name="TextBox 19"/>
          <p:cNvSpPr txBox="1"/>
          <p:nvPr/>
        </p:nvSpPr>
        <p:spPr>
          <a:xfrm>
            <a:off x="1371600" y="5102352"/>
            <a:ext cx="9966960" cy="512064"/>
          </a:xfrm>
          <a:prstGeom prst="rect">
            <a:avLst/>
          </a:prstGeom>
          <a:noFill/>
        </p:spPr>
        <p:txBody>
          <a:bodyPr wrap="square" lIns="0" rIns="0" tIns="0" bIns="0" anchor="t">
            <a:spAutoFit/>
          </a:bodyPr>
          <a:lstStyle/>
          <a:p>
            <a:pPr algn="l">
              <a:lnSpc>
                <a:spcPct val="118000"/>
              </a:lnSpc>
              <a:spcAft>
                <a:spcPts val="0"/>
              </a:spcAft>
            </a:pPr>
            <a:r>
              <a:rPr sz="1050" b="0" i="0">
                <a:solidFill>
                  <a:srgbClr val="D0C9CB"/>
                </a:solidFill>
                <a:latin typeface="Calibri"/>
              </a:rPr>
              <a:t>60,762 of 68,166 rows did not sum to 1 — a solver failure, fixable. But 10x v1 chemistry and 3' bias make unspliced estimates weak here regardless.</a:t>
            </a:r>
          </a:p>
        </p:txBody>
      </p:sp>
      <p:sp>
        <p:nvSpPr>
          <p:cNvPr id="21" name="Rounded Rectangle 20"/>
          <p:cNvSpPr/>
          <p:nvPr/>
        </p:nvSpPr>
        <p:spPr>
          <a:xfrm>
            <a:off x="640080" y="5724144"/>
            <a:ext cx="10911535" cy="439166"/>
          </a:xfrm>
          <a:prstGeom prst="roundRect">
            <a:avLst>
              <a:gd name="adj" fmla="val 6000"/>
            </a:avLst>
          </a:prstGeom>
          <a:solidFill>
            <a:srgbClr val="9900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5843016"/>
            <a:ext cx="10454335" cy="256286"/>
          </a:xfrm>
          <a:prstGeom prst="rect">
            <a:avLst/>
          </a:prstGeom>
          <a:noFill/>
        </p:spPr>
        <p:txBody>
          <a:bodyPr wrap="square" lIns="0" rIns="0" tIns="0" bIns="0" anchor="t">
            <a:spAutoFit/>
          </a:bodyPr>
          <a:lstStyle/>
          <a:p>
            <a:pPr algn="l">
              <a:spcAft>
                <a:spcPts val="0"/>
              </a:spcAft>
            </a:pPr>
            <a:r>
              <a:rPr sz="1300" b="1" i="0">
                <a:solidFill>
                  <a:srgbClr val="FFFFFF"/>
                </a:solidFill>
                <a:latin typeface="Calibri"/>
              </a:rPr>
              <a:t>Next: test a less absorbing transport kernel on a subsample before committing another eight-kernel run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